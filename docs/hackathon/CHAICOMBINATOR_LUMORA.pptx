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9" autoAdjust="0"/>
    <p:restoredTop sz="94610"/>
  </p:normalViewPr>
  <p:slideViewPr>
    <p:cSldViewPr snapToGrid="0" snapToObjects="1">
      <p:cViewPr>
        <p:scale>
          <a:sx n="92" d="100"/>
          <a:sy n="92" d="100"/>
        </p:scale>
        <p:origin x="336" y="-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871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Open with confidence: Lumora is already more than a prototype.
EMPHASIS: real users + paid users
PAUSE: Pause after ₹2.25K.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Create the tension before revealing Lumora.
EMPHASIS: provable
PAUSE: Let the wrong underline sit without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Define the product proof without depending on the broken router.
EMPHASIS: answers with receipts
PAUSE: Pause after “you can check.”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This slide will receive final citation screenshots if they are ready.
EMPHASIS: citation landing
PAUSE: Hold on the second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Signal technical depth without exposing broken router behavior.
EMPHASIS: real evidence
PAUSE: Short, do not over-explain.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Introduce Skill Intelligence as the second hero system.
EMPHASIS: CV → role fit
PAUSE: Pause on the five-role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Show that the system can analyze multiple role directions.
EMPHASIS: different gaps
PAUSE: Move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Land the feature users repeatedly praised.
EMPHASIS: gap → resource
PAUSE: Mention ChaiCode resource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Frame this as signal, not scale.
EMPHASIS: small sample, real behaviour
PAUSE: Let the four cards land before explaining the funnel.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Read one quote aloud; let the other two work visually.
EMPHASIS: gap → roadmap → resources
PAUSE: Do not sanitize the YouTube criticism.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Treat this as a financial architecture slide, not a cost table.
EMPHASIS: three major costs + one known gap
PAUSE: Point to Skill Intelligence first, then Gemini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Show the revenue model as falsifiable and conservative.
EMPHASIS: assumptions visible
PAUSE: Say the honesty line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Explain it left to right as three frames.
EMPHASIS: age out individually
PAUSE: Call Step 3 NEXT — it is not shipped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Point to Core as the practical paid plan.
EMPHASIS: price follows capacity and value
PAUSE: Do not imply Free is blocked forever; capacity returns.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Show distribution is already being tested.
EMPHASIS: content → paid
PAUSE: Do not oversell 20K views as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End clean. Let the tagline be the last impression.
EMPHASIS: Trust is the product
PAUSE: Hold for three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360920" y="548640"/>
            <a:ext cx="0" cy="5760720"/>
          </a:xfrm>
          <a:prstGeom prst="line">
            <a:avLst/>
          </a:prstGeom>
          <a:ln w="12700">
            <a:solidFill>
              <a:srgbClr val="17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183879" y="685800"/>
            <a:ext cx="2788921" cy="0"/>
          </a:xfrm>
          <a:prstGeom prst="line">
            <a:avLst/>
          </a:prstGeom>
          <a:ln w="13970">
            <a:solidFill>
              <a:srgbClr val="2BE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5852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BE4FF"/>
                </a:solidFill>
                <a:latin typeface="Aptos"/>
              </a:rPr>
              <a:t>LUMORA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594360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F3F6FB"/>
                </a:solidFill>
                <a:latin typeface="Aptos"/>
              </a:rPr>
              <a:t>Learn from evidence.
Know your gaps.
Build your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11880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AAB5C8"/>
                </a:solidFill>
                <a:latin typeface="Aptos"/>
              </a:rPr>
              <a:t>A production-style learning product built for Chai Code
Combinator.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4773168"/>
            <a:ext cx="1920240" cy="658368"/>
          </a:xfrm>
          <a:prstGeom prst="roundRect">
            <a:avLst>
              <a:gd name="adj" fmla="val 14000"/>
            </a:avLst>
          </a:prstGeom>
          <a:solidFill>
            <a:srgbClr val="0B1523"/>
          </a:solidFill>
          <a:ln w="15875">
            <a:solidFill>
              <a:srgbClr val="2B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822960" y="4864608"/>
            <a:ext cx="1572768" cy="0"/>
          </a:xfrm>
          <a:prstGeom prst="line">
            <a:avLst/>
          </a:prstGeom>
          <a:ln w="11430">
            <a:solidFill>
              <a:srgbClr val="2BE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4956048"/>
            <a:ext cx="1554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A8F5FF"/>
                </a:solidFill>
                <a:latin typeface="Aptos"/>
              </a:rPr>
              <a:t>EVIDENCE-BACKED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14807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3F6FB"/>
                </a:solidFill>
                <a:latin typeface="Aptos"/>
              </a:rPr>
              <a:t>answers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208" y="4773168"/>
            <a:ext cx="1920240" cy="658368"/>
          </a:xfrm>
          <a:prstGeom prst="roundRect">
            <a:avLst>
              <a:gd name="adj" fmla="val 14000"/>
            </a:avLst>
          </a:prstGeom>
          <a:solidFill>
            <a:srgbClr val="0B1523"/>
          </a:solidFill>
          <a:ln w="15875">
            <a:solidFill>
              <a:srgbClr val="2B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2953512" y="4864608"/>
            <a:ext cx="1572768" cy="0"/>
          </a:xfrm>
          <a:prstGeom prst="line">
            <a:avLst/>
          </a:prstGeom>
          <a:ln w="11430">
            <a:solidFill>
              <a:srgbClr val="2BE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71800" y="4956048"/>
            <a:ext cx="1554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A8F5FF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514807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3F6FB"/>
                </a:solidFill>
                <a:latin typeface="Aptos"/>
              </a:rPr>
              <a:t>intelligence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4773168"/>
            <a:ext cx="1920240" cy="658368"/>
          </a:xfrm>
          <a:prstGeom prst="roundRect">
            <a:avLst>
              <a:gd name="adj" fmla="val 14000"/>
            </a:avLst>
          </a:prstGeom>
          <a:solidFill>
            <a:srgbClr val="0B1523"/>
          </a:solidFill>
          <a:ln w="15875">
            <a:solidFill>
              <a:srgbClr val="2B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5084064" y="4864608"/>
            <a:ext cx="1572768" cy="0"/>
          </a:xfrm>
          <a:prstGeom prst="line">
            <a:avLst/>
          </a:prstGeom>
          <a:ln w="11430">
            <a:solidFill>
              <a:srgbClr val="2BE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02352" y="4956048"/>
            <a:ext cx="1554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A8F5FF"/>
                </a:solidFill>
                <a:latin typeface="Aptos"/>
              </a:rPr>
              <a:t>USAGE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514807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3F6FB"/>
                </a:solidFill>
                <a:latin typeface="Aptos"/>
              </a:rPr>
              <a:t>economics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6656" y="6309360"/>
            <a:ext cx="2020824" cy="0"/>
          </a:xfrm>
          <a:prstGeom prst="line">
            <a:avLst/>
          </a:prstGeom>
          <a:ln w="15240">
            <a:solidFill>
              <a:srgbClr val="2BE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6446520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809A"/>
                </a:solidFill>
                <a:latin typeface="Aptos"/>
              </a:rPr>
              <a:t>Hackathon Project Deck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1207008"/>
            <a:ext cx="3566160" cy="4983480"/>
          </a:xfrm>
          <a:prstGeom prst="roundRect">
            <a:avLst>
              <a:gd name="adj" fmla="val 14000"/>
            </a:avLst>
          </a:prstGeom>
          <a:solidFill>
            <a:srgbClr val="0E1B2B"/>
          </a:solidFill>
          <a:ln w="19050">
            <a:solidFill>
              <a:srgbClr val="2B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8156448" y="1353312"/>
            <a:ext cx="2926080" cy="0"/>
          </a:xfrm>
          <a:prstGeom prst="line">
            <a:avLst/>
          </a:prstGeom>
          <a:ln w="11430">
            <a:solidFill>
              <a:srgbClr val="2BE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156448" y="1627632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BE4FF"/>
                </a:solidFill>
                <a:latin typeface="Aptos"/>
              </a:rPr>
              <a:t>EARLY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224028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>
                <a:solidFill>
                  <a:srgbClr val="F3F6FB"/>
                </a:solidFill>
                <a:latin typeface="Aptos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83464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AAB5C8"/>
                </a:solidFill>
                <a:latin typeface="Aptos"/>
              </a:rPr>
              <a:t>REAL USERS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24028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>
                <a:solidFill>
                  <a:srgbClr val="2BE4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283464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AAB5C8"/>
                </a:solidFill>
                <a:latin typeface="Aptos"/>
              </a:rPr>
              <a:t>PAID USERS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183879" y="3218688"/>
            <a:ext cx="2807209" cy="0"/>
          </a:xfrm>
          <a:prstGeom prst="line">
            <a:avLst/>
          </a:prstGeom>
          <a:ln w="11430">
            <a:solidFill>
              <a:srgbClr val="2733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12480" y="370332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>
                <a:solidFill>
                  <a:srgbClr val="F3F6FB"/>
                </a:solidFill>
                <a:latin typeface="Aptos"/>
              </a:rPr>
              <a:t>₹2.25K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096512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2BE4FF"/>
                </a:solidFill>
                <a:latin typeface="Aptos"/>
              </a:rPr>
              <a:t>EARLY GROSS REVENUE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4681728"/>
            <a:ext cx="2724912" cy="548640"/>
          </a:xfrm>
          <a:prstGeom prst="roundRect">
            <a:avLst>
              <a:gd name="adj" fmla="val 14000"/>
            </a:avLst>
          </a:prstGeom>
          <a:solidFill>
            <a:srgbClr val="111B2A"/>
          </a:solidFill>
          <a:ln w="12700">
            <a:solidFill>
              <a:srgbClr val="27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30768" y="4837176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F3F6FB"/>
                </a:solidFill>
                <a:latin typeface="Aptos"/>
              </a:rPr>
              <a:t>~20K content views • 97% non-
follower reach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53212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73809A"/>
                </a:solidFill>
                <a:latin typeface="Aptos"/>
              </a:rPr>
              <a:t>small sample · real behaviour · no fake conversion
claims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50040" y="6510528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3809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1005840"/>
            <a:ext cx="2011680" cy="2011680"/>
          </a:xfrm>
          <a:prstGeom prst="ellipse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" y="4892040"/>
            <a:ext cx="1737360" cy="173736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" y="41148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Aptos Display"/>
              </a:rPr>
              <a:t>Same question. Different trust 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" y="877824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Aptos"/>
              </a:rPr>
              <a:t>General answers can be useful. Workspace answers are inspectable.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68912" y="6565392"/>
            <a:ext cx="201168" cy="137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sz="480" b="0" i="0">
                <a:solidFill>
                  <a:srgbClr val="475569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603504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Aptos"/>
              </a:rPr>
              <a:t>This is the product tension: the model can sound confident before evidence exists. Lumora makes the answer auditable once the source enters the workspace.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1700784"/>
            <a:ext cx="5349240" cy="4434840"/>
          </a:xfrm>
          <a:prstGeom prst="roundRect">
            <a:avLst/>
          </a:prstGeom>
          <a:solidFill>
            <a:srgbClr val="0C111A"/>
          </a:solidFill>
          <a:ln w="11430"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36792" y="1700784"/>
            <a:ext cx="5349240" cy="4434840"/>
          </a:xfrm>
          <a:prstGeom prst="roundRect">
            <a:avLst/>
          </a:prstGeom>
          <a:solidFill>
            <a:srgbClr val="0C111A"/>
          </a:solidFill>
          <a:ln w="1397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68096" y="1901952"/>
            <a:ext cx="1417320" cy="219456"/>
          </a:xfrm>
          <a:prstGeom prst="roundRect">
            <a:avLst/>
          </a:prstGeom>
          <a:solidFill>
            <a:srgbClr val="121A28"/>
          </a:solidFill>
          <a:ln w="10160">
            <a:solidFill>
              <a:srgbClr val="39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r>
              <a:rPr sz="540" b="1">
                <a:solidFill>
                  <a:srgbClr val="94A3B8"/>
                </a:solidFill>
                <a:latin typeface="Aptos"/>
              </a:rPr>
              <a:t>BEFORE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04288" y="1901952"/>
            <a:ext cx="1691640" cy="219456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r>
              <a:rPr sz="520" b="1">
                <a:solidFill>
                  <a:srgbClr val="C4B5FD"/>
                </a:solidFill>
                <a:latin typeface="Aptos"/>
              </a:rPr>
              <a:t>GENERAL KNOWLEDGE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1968" y="1901952"/>
            <a:ext cx="2331720" cy="219456"/>
          </a:xfrm>
          <a:prstGeom prst="roundRect">
            <a:avLst/>
          </a:prstGeom>
          <a:solidFill>
            <a:srgbClr val="0D1C20"/>
          </a:solidFill>
          <a:ln w="10160">
            <a:solidFill>
              <a:srgbClr val="00D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r>
              <a:rPr sz="500" b="1">
                <a:solidFill>
                  <a:srgbClr val="A7F3D0"/>
                </a:solidFill>
                <a:latin typeface="Aptos"/>
              </a:rPr>
              <a:t>WORKSPACE SOURCE AVAILABLE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70848" y="1901952"/>
            <a:ext cx="1755648" cy="219456"/>
          </a:xfrm>
          <a:prstGeom prst="roundRect">
            <a:avLst/>
          </a:prstGeom>
          <a:solidFill>
            <a:srgbClr val="0E1B2C"/>
          </a:solidFill>
          <a:ln w="1016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r>
              <a:rPr sz="500" b="1">
                <a:solidFill>
                  <a:srgbClr val="BAF7FF"/>
                </a:solidFill>
                <a:latin typeface="Aptos"/>
              </a:rPr>
              <a:t>FROM YOUR WORKSPACE</a:t>
            </a:r>
          </a:p>
        </p:txBody>
      </p:sp>
      <p:pic>
        <p:nvPicPr>
          <p:cNvPr id="15" name="Picture 14" descr="general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267712"/>
            <a:ext cx="4800600" cy="2971800"/>
          </a:xfrm>
          <a:prstGeom prst="rect">
            <a:avLst/>
          </a:prstGeom>
        </p:spPr>
      </p:pic>
      <p:pic>
        <p:nvPicPr>
          <p:cNvPr id="16" name="Picture 15" descr="grounded_t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267712"/>
            <a:ext cx="4800600" cy="2971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86384" y="5458968"/>
            <a:ext cx="4800600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Aptos"/>
              </a:rPr>
              <a:t>Useful answer, but no visible evidence trail.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458968"/>
            <a:ext cx="4800600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sz="950" b="0" i="0">
                <a:solidFill>
                  <a:srgbClr val="00F2FE"/>
                </a:solidFill>
                <a:latin typeface="Aptos"/>
              </a:rPr>
              <a:t>Citations + source chips make the answer inspectable.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16168" y="3858768"/>
            <a:ext cx="356616" cy="0"/>
          </a:xfrm>
          <a:prstGeom prst="line">
            <a:avLst/>
          </a:prstGeom>
          <a:ln w="16510">
            <a:solidFill>
              <a:srgbClr val="00F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522976" y="4050791"/>
            <a:ext cx="1143000" cy="246888"/>
          </a:xfrm>
          <a:prstGeom prst="roundRect">
            <a:avLst/>
          </a:prstGeom>
          <a:solidFill>
            <a:srgbClr val="081826"/>
          </a:solidFill>
          <a:ln w="1016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r>
              <a:rPr sz="520" b="1">
                <a:solidFill>
                  <a:srgbClr val="00F2FE"/>
                </a:solidFill>
                <a:latin typeface="Aptos"/>
              </a:rPr>
              <a:t>SOURCE ADDED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6382512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sz="740" b="0" i="0">
                <a:solidFill>
                  <a:srgbClr val="94A3B8"/>
                </a:solidFill>
                <a:latin typeface="Aptos"/>
              </a:rPr>
              <a:t>Target judge takeaway: Lumora is not claiming that every answer is magic — it separates unaudited synthesis from workspace-grounded evidence.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0" y="868680"/>
            <a:ext cx="2011680" cy="2011680"/>
          </a:xfrm>
          <a:prstGeom prst="ellipse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57232" y="4114800"/>
            <a:ext cx="2286000" cy="2286000"/>
          </a:xfrm>
          <a:prstGeom prst="ellipse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" y="41148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Aptos Display"/>
              </a:rPr>
              <a:t>One workspace. Answers with receipts.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" y="877824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Aptos"/>
              </a:rPr>
              <a:t>Same chat. Different grounding. Evidence appears when workspace sources can support the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68912" y="6565392"/>
            <a:ext cx="201168" cy="137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sz="480" b="0" i="0">
                <a:solidFill>
                  <a:srgbClr val="475569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4709160" cy="4754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Aptos"/>
              </a:rPr>
              <a:t>Lumora turns sources into a learning workspace — not a loose document chat.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20240"/>
            <a:ext cx="4480560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Aptos"/>
              </a:rPr>
              <a:t>The judge should see three things instantly: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2331720"/>
            <a:ext cx="4434840" cy="685800"/>
          </a:xfrm>
          <a:prstGeom prst="roundRect">
            <a:avLst/>
          </a:prstGeom>
          <a:solidFill>
            <a:srgbClr val="101827"/>
          </a:solidFill>
          <a:ln w="9525"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68096" y="2542032"/>
            <a:ext cx="146304" cy="146304"/>
          </a:xfrm>
          <a:prstGeom prst="roundRect">
            <a:avLst/>
          </a:prstGeom>
          <a:solidFill>
            <a:srgbClr val="00D084"/>
          </a:solidFill>
          <a:ln w="10160">
            <a:solidFill>
              <a:srgbClr val="00D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441448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140" b="1" i="0">
                <a:solidFill>
                  <a:srgbClr val="F8FAFC"/>
                </a:solidFill>
                <a:latin typeface="Aptos"/>
              </a:rPr>
              <a:t>Workspace grounding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697479"/>
            <a:ext cx="3474720" cy="12801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740" b="0" i="0">
                <a:solidFill>
                  <a:srgbClr val="94A3B8"/>
                </a:solidFill>
                <a:latin typeface="Aptos"/>
              </a:rPr>
              <a:t>answer comes from uploaded 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" y="3172968"/>
            <a:ext cx="4434840" cy="685800"/>
          </a:xfrm>
          <a:prstGeom prst="roundRect">
            <a:avLst/>
          </a:prstGeom>
          <a:solidFill>
            <a:srgbClr val="101827"/>
          </a:solidFill>
          <a:ln w="9525"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68096" y="3383279"/>
            <a:ext cx="146304" cy="146304"/>
          </a:xfrm>
          <a:prstGeom prst="roundRect">
            <a:avLst/>
          </a:prstGeom>
          <a:solidFill>
            <a:srgbClr val="00F2FE"/>
          </a:solidFill>
          <a:ln w="1016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328269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140" b="1" i="0">
                <a:solidFill>
                  <a:srgbClr val="F8FAFC"/>
                </a:solidFill>
                <a:latin typeface="Aptos"/>
              </a:rPr>
              <a:t>Citation markers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538727"/>
            <a:ext cx="3474720" cy="12801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740" b="0" i="0">
                <a:solidFill>
                  <a:srgbClr val="94A3B8"/>
                </a:solidFill>
                <a:latin typeface="Aptos"/>
              </a:rPr>
              <a:t>claims point back to source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" y="4014215"/>
            <a:ext cx="4434840" cy="685800"/>
          </a:xfrm>
          <a:prstGeom prst="roundRect">
            <a:avLst/>
          </a:prstGeom>
          <a:solidFill>
            <a:srgbClr val="101827"/>
          </a:solidFill>
          <a:ln w="9525"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68096" y="4224528"/>
            <a:ext cx="146304" cy="146304"/>
          </a:xfrm>
          <a:prstGeom prst="roundRect">
            <a:avLst/>
          </a:prstGeom>
          <a:solidFill>
            <a:srgbClr val="FFB300"/>
          </a:solidFill>
          <a:ln w="1016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4123944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140" b="1" i="0">
                <a:solidFill>
                  <a:srgbClr val="F8FAFC"/>
                </a:solidFill>
                <a:latin typeface="Aptos"/>
              </a:rPr>
              <a:t>Source chips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379976"/>
            <a:ext cx="3474720" cy="12801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740" b="0" i="0">
                <a:solidFill>
                  <a:srgbClr val="94A3B8"/>
                </a:solidFill>
                <a:latin typeface="Aptos"/>
              </a:rPr>
              <a:t>YouTube evidence is visible at the bottom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525780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500" b="1" i="0">
                <a:solidFill>
                  <a:srgbClr val="00F2FE"/>
                </a:solidFill>
                <a:latin typeface="Aptos"/>
              </a:rPr>
              <a:t>This is the important shift:
Answer → Evidence → Understanding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5870448"/>
            <a:ext cx="470916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830" b="0" i="0">
                <a:solidFill>
                  <a:srgbClr val="94A3B8"/>
                </a:solidFill>
                <a:latin typeface="Aptos"/>
              </a:rPr>
              <a:t>The deck does not need to replay citation-clicking — the demo video proves the interaction. This slide proves the product exists and is readable.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82996" y="818388"/>
            <a:ext cx="5422392" cy="5687568"/>
          </a:xfrm>
          <a:prstGeom prst="roundRect">
            <a:avLst/>
          </a:prstGeom>
          <a:solidFill>
            <a:srgbClr val="08111D"/>
          </a:solidFill>
          <a:ln w="1397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grounded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850392"/>
            <a:ext cx="5358384" cy="562356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814816" y="576072"/>
            <a:ext cx="1481328" cy="228600"/>
          </a:xfrm>
          <a:prstGeom prst="roundRect">
            <a:avLst/>
          </a:prstGeom>
          <a:solidFill>
            <a:srgbClr val="091A2A"/>
          </a:solidFill>
          <a:ln w="1016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r>
              <a:rPr sz="520" b="1">
                <a:solidFill>
                  <a:srgbClr val="00F2FE"/>
                </a:solidFill>
                <a:latin typeface="Aptos"/>
              </a:rPr>
              <a:t>LIVE PRODUCT 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16752" y="6236208"/>
            <a:ext cx="1417320" cy="228600"/>
          </a:xfrm>
          <a:prstGeom prst="roundRect">
            <a:avLst/>
          </a:prstGeom>
          <a:solidFill>
            <a:srgbClr val="091A2A"/>
          </a:solidFill>
          <a:ln w="1016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r>
              <a:rPr sz="520" b="1">
                <a:solidFill>
                  <a:srgbClr val="00F2FE"/>
                </a:solidFill>
                <a:latin typeface="Aptos"/>
              </a:rPr>
              <a:t>CITATIONS VISIBLE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44383" y="6236208"/>
            <a:ext cx="1188720" cy="228600"/>
          </a:xfrm>
          <a:prstGeom prst="roundRect">
            <a:avLst/>
          </a:prstGeom>
          <a:solidFill>
            <a:srgbClr val="23101A"/>
          </a:solidFill>
          <a:ln w="1016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r>
              <a:rPr sz="520" b="1">
                <a:solidFill>
                  <a:srgbClr val="FF9BAD"/>
                </a:solidFill>
                <a:latin typeface="Aptos"/>
              </a:rPr>
              <a:t>SOURCE CHIPS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34272" y="6236208"/>
            <a:ext cx="1691640" cy="228600"/>
          </a:xfrm>
          <a:prstGeom prst="roundRect">
            <a:avLst/>
          </a:prstGeom>
          <a:solidFill>
            <a:srgbClr val="0B1C17"/>
          </a:solidFill>
          <a:ln w="10160">
            <a:solidFill>
              <a:srgbClr val="00D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r>
              <a:rPr sz="520" b="1">
                <a:solidFill>
                  <a:srgbClr val="9EF5C5"/>
                </a:solidFill>
                <a:latin typeface="Aptos"/>
              </a:rPr>
              <a:t>WORKSPACE-GROUNDED</a:t>
            </a: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869680" y="91440"/>
            <a:ext cx="2743200" cy="2743200"/>
          </a:xfrm>
          <a:prstGeom prst="ellipse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97280" y="4663440"/>
            <a:ext cx="1828800" cy="182880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" y="41148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Aptos Display"/>
              </a:rPr>
              <a:t>Trust is an audit trail.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" y="877824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Aptos"/>
              </a:rPr>
              <a:t>Lumora does not ask the user to believe the model. It gives the user something to inspect.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68912" y="6565392"/>
            <a:ext cx="201168" cy="137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sz="480" b="0" i="0">
                <a:solidFill>
                  <a:srgbClr val="475569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43000"/>
            <a:ext cx="7132320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20" b="0" i="0">
                <a:solidFill>
                  <a:srgbClr val="CBD5E1"/>
                </a:solidFill>
                <a:latin typeface="Aptos"/>
              </a:rPr>
              <a:t>The product verdict is not “AI answered.” The product verdict is whether the answer is supported by workspace evidence.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34056" y="3246120"/>
            <a:ext cx="859535" cy="0"/>
          </a:xfrm>
          <a:prstGeom prst="line">
            <a:avLst/>
          </a:prstGeom>
          <a:ln w="15240">
            <a:solidFill>
              <a:srgbClr val="00F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77256" y="3246120"/>
            <a:ext cx="859536" cy="0"/>
          </a:xfrm>
          <a:prstGeom prst="line">
            <a:avLst/>
          </a:prstGeom>
          <a:ln w="15240">
            <a:solidFill>
              <a:srgbClr val="00F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0456" y="3246120"/>
            <a:ext cx="859536" cy="0"/>
          </a:xfrm>
          <a:prstGeom prst="line">
            <a:avLst/>
          </a:prstGeom>
          <a:ln w="15240">
            <a:solidFill>
              <a:srgbClr val="00F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" y="2057400"/>
            <a:ext cx="2331720" cy="2331720"/>
          </a:xfrm>
          <a:prstGeom prst="roundRect">
            <a:avLst/>
          </a:prstGeom>
          <a:solidFill>
            <a:srgbClr val="0E1522"/>
          </a:solidFill>
          <a:ln w="13335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86968" y="2267712"/>
            <a:ext cx="987552" cy="228600"/>
          </a:xfrm>
          <a:prstGeom prst="roundRect">
            <a:avLst/>
          </a:prstGeom>
          <a:solidFill>
            <a:srgbClr val="0B1220"/>
          </a:solidFill>
          <a:ln w="1016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r>
              <a:rPr sz="540" b="1">
                <a:solidFill>
                  <a:srgbClr val="00F2FE"/>
                </a:solidFill>
                <a:latin typeface="Aptos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761488"/>
            <a:ext cx="1847088" cy="4754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  <a:latin typeface="Aptos"/>
              </a:rPr>
              <a:t>What is Kubernetes?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77647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sz="740" b="0" i="0">
                <a:solidFill>
                  <a:srgbClr val="94A3B8"/>
                </a:solidFill>
                <a:latin typeface="Aptos"/>
              </a:rPr>
              <a:t>User intent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2057400"/>
            <a:ext cx="2331720" cy="2331720"/>
          </a:xfrm>
          <a:prstGeom prst="roundRect">
            <a:avLst/>
          </a:prstGeom>
          <a:solidFill>
            <a:srgbClr val="0E1522"/>
          </a:solidFill>
          <a:ln w="13335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630168" y="2267712"/>
            <a:ext cx="987552" cy="228600"/>
          </a:xfrm>
          <a:prstGeom prst="roundRect">
            <a:avLst/>
          </a:prstGeom>
          <a:solidFill>
            <a:srgbClr val="0B1220"/>
          </a:solidFill>
          <a:ln w="1016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r>
              <a:rPr sz="540" b="1">
                <a:solidFill>
                  <a:srgbClr val="9B5CFF"/>
                </a:solidFill>
                <a:latin typeface="Aptos"/>
              </a:rPr>
              <a:t>CLAIM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2761488"/>
            <a:ext cx="1847088" cy="4754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sz="1150" b="1" i="0">
                <a:solidFill>
                  <a:srgbClr val="F8FAFC"/>
                </a:solidFill>
                <a:latin typeface="Aptos"/>
              </a:rPr>
              <a:t>K8s manages and scales containerized apps.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377647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sz="740" b="0" i="0">
                <a:solidFill>
                  <a:srgbClr val="94A3B8"/>
                </a:solidFill>
                <a:latin typeface="Aptos"/>
              </a:rPr>
              <a:t>Model statement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057400"/>
            <a:ext cx="2331720" cy="2331720"/>
          </a:xfrm>
          <a:prstGeom prst="roundRect">
            <a:avLst/>
          </a:prstGeom>
          <a:solidFill>
            <a:srgbClr val="0E1522"/>
          </a:solidFill>
          <a:ln w="13335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73368" y="2267712"/>
            <a:ext cx="1060704" cy="228600"/>
          </a:xfrm>
          <a:prstGeom prst="roundRect">
            <a:avLst/>
          </a:prstGeom>
          <a:solidFill>
            <a:srgbClr val="0B1220"/>
          </a:solidFill>
          <a:ln w="1016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r>
              <a:rPr sz="540" b="1">
                <a:solidFill>
                  <a:srgbClr val="FFB300"/>
                </a:solidFill>
                <a:latin typeface="Aptos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2761488"/>
            <a:ext cx="1847088" cy="4754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  <a:latin typeface="Aptos"/>
              </a:rPr>
              <a:t>Citation [5] · YouTube 08:07–08:53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77647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sz="740" b="0" i="0">
                <a:solidFill>
                  <a:srgbClr val="94A3B8"/>
                </a:solidFill>
                <a:latin typeface="Aptos"/>
              </a:rPr>
              <a:t>Source context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057400"/>
            <a:ext cx="2331720" cy="2331720"/>
          </a:xfrm>
          <a:prstGeom prst="roundRect">
            <a:avLst/>
          </a:prstGeom>
          <a:solidFill>
            <a:srgbClr val="0E1522"/>
          </a:solidFill>
          <a:ln w="13335">
            <a:solidFill>
              <a:srgbClr val="00D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116567" y="2267712"/>
            <a:ext cx="987552" cy="228600"/>
          </a:xfrm>
          <a:prstGeom prst="roundRect">
            <a:avLst/>
          </a:prstGeom>
          <a:solidFill>
            <a:srgbClr val="0B1220"/>
          </a:solidFill>
          <a:ln w="10160">
            <a:solidFill>
              <a:srgbClr val="00D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r>
              <a:rPr sz="540" b="1">
                <a:solidFill>
                  <a:srgbClr val="00D084"/>
                </a:solidFill>
                <a:latin typeface="Aptos"/>
              </a:rPr>
              <a:t>VERDICT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761488"/>
            <a:ext cx="1847088" cy="4754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  <a:latin typeface="Aptos"/>
              </a:rPr>
              <a:t>SUPPORTED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377647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sz="740" b="0" i="0">
                <a:solidFill>
                  <a:srgbClr val="94A3B8"/>
                </a:solidFill>
                <a:latin typeface="Aptos"/>
              </a:rPr>
              <a:t>Workspace-grounded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8992" y="4892040"/>
            <a:ext cx="10012680" cy="932688"/>
          </a:xfrm>
          <a:prstGeom prst="roundRect">
            <a:avLst/>
          </a:prstGeom>
          <a:solidFill>
            <a:srgbClr val="101827"/>
          </a:solidFill>
          <a:ln w="11430">
            <a:solidFill>
              <a:srgbClr val="2432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89888" y="508406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800" b="1" i="0">
                <a:solidFill>
                  <a:srgbClr val="00F2FE"/>
                </a:solidFill>
                <a:latin typeface="Aptos"/>
              </a:rPr>
              <a:t>Why this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5330952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Aptos"/>
              </a:rPr>
              <a:t>Generic AI optimizes for fluency. Lumora optimizes for inspectability: claim, evidence, context, verdict.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5047488"/>
            <a:ext cx="1417320" cy="228600"/>
          </a:xfrm>
          <a:prstGeom prst="roundRect">
            <a:avLst/>
          </a:prstGeom>
          <a:solidFill>
            <a:srgbClr val="211806"/>
          </a:solidFill>
          <a:ln w="1016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r>
              <a:rPr sz="500" b="1">
                <a:solidFill>
                  <a:srgbClr val="FFB300"/>
                </a:solidFill>
                <a:latin typeface="Aptos"/>
              </a:rPr>
              <a:t>NO FAKE CERTAINTY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9968" y="6163056"/>
            <a:ext cx="813816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sz="720" b="0" i="0">
                <a:solidFill>
                  <a:srgbClr val="94A3B8"/>
                </a:solidFill>
                <a:latin typeface="Aptos"/>
              </a:rPr>
              <a:t>Demo video covers the click-through citation proof. This slide explains the product philosophy behind it.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4572000"/>
            <a:ext cx="2194560" cy="2194560"/>
          </a:xfrm>
          <a:prstGeom prst="ellipse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297680" y="640080"/>
            <a:ext cx="2011680" cy="20116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" y="41148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Aptos Display"/>
              </a:rPr>
              <a:t>How evidence becomes an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" y="877824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Aptos"/>
              </a:rPr>
              <a:t>The system is simple enough for a judge to understand, but serious enough to control quality and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68912" y="6565392"/>
            <a:ext cx="201168" cy="137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sz="480" b="0" i="0">
                <a:solidFill>
                  <a:srgbClr val="475569"/>
                </a:solidFill>
                <a:latin typeface="Aptos"/>
              </a:rPr>
              <a:t>05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92224" y="2948939"/>
            <a:ext cx="338328" cy="0"/>
          </a:xfrm>
          <a:prstGeom prst="line">
            <a:avLst/>
          </a:prstGeom>
          <a:ln w="12700">
            <a:solidFill>
              <a:srgbClr val="00F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483864" y="2948939"/>
            <a:ext cx="338327" cy="0"/>
          </a:xfrm>
          <a:prstGeom prst="line">
            <a:avLst/>
          </a:prstGeom>
          <a:ln w="12700">
            <a:solidFill>
              <a:srgbClr val="00F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75504" y="2948939"/>
            <a:ext cx="338328" cy="0"/>
          </a:xfrm>
          <a:prstGeom prst="line">
            <a:avLst/>
          </a:prstGeom>
          <a:ln w="12700">
            <a:solidFill>
              <a:srgbClr val="00F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67144" y="2948939"/>
            <a:ext cx="338328" cy="0"/>
          </a:xfrm>
          <a:prstGeom prst="line">
            <a:avLst/>
          </a:prstGeom>
          <a:ln w="12700">
            <a:solidFill>
              <a:srgbClr val="00F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58784" y="2948939"/>
            <a:ext cx="338328" cy="0"/>
          </a:xfrm>
          <a:prstGeom prst="line">
            <a:avLst/>
          </a:prstGeom>
          <a:ln w="12700">
            <a:solidFill>
              <a:srgbClr val="FFB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250424" y="2948939"/>
            <a:ext cx="338328" cy="0"/>
          </a:xfrm>
          <a:prstGeom prst="line">
            <a:avLst/>
          </a:prstGeom>
          <a:ln w="12700">
            <a:solidFill>
              <a:srgbClr val="FFB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8912" y="2331720"/>
            <a:ext cx="1353312" cy="1234440"/>
          </a:xfrm>
          <a:prstGeom prst="roundRect">
            <a:avLst/>
          </a:prstGeom>
          <a:solidFill>
            <a:srgbClr val="0E1522"/>
          </a:solidFill>
          <a:ln w="1143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85216" y="2496312"/>
            <a:ext cx="1060704" cy="228600"/>
          </a:xfrm>
          <a:prstGeom prst="roundRect">
            <a:avLst/>
          </a:prstGeom>
          <a:solidFill>
            <a:srgbClr val="0B1220"/>
          </a:solidFill>
          <a:ln w="1016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r>
              <a:rPr sz="480" b="1">
                <a:solidFill>
                  <a:srgbClr val="00F2FE"/>
                </a:solidFill>
                <a:latin typeface="Aptos"/>
              </a:rPr>
              <a:t>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3" y="2862072"/>
            <a:ext cx="1024128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sz="750" b="1" i="0">
                <a:solidFill>
                  <a:srgbClr val="DDE7F0"/>
                </a:solidFill>
                <a:latin typeface="Aptos"/>
              </a:rPr>
              <a:t>PDF
YouTube
Website
Text
CV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30552" y="2331720"/>
            <a:ext cx="1353312" cy="1234440"/>
          </a:xfrm>
          <a:prstGeom prst="roundRect">
            <a:avLst/>
          </a:prstGeom>
          <a:solidFill>
            <a:srgbClr val="0E1522"/>
          </a:solidFill>
          <a:ln w="1143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276856" y="2496312"/>
            <a:ext cx="1060704" cy="228600"/>
          </a:xfrm>
          <a:prstGeom prst="roundRect">
            <a:avLst/>
          </a:prstGeom>
          <a:solidFill>
            <a:srgbClr val="0B1220"/>
          </a:solidFill>
          <a:ln w="1016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r>
              <a:rPr sz="480" b="1">
                <a:solidFill>
                  <a:srgbClr val="00F2FE"/>
                </a:solidFill>
                <a:latin typeface="Aptos"/>
              </a:rPr>
              <a:t>INGEST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95144" y="2862072"/>
            <a:ext cx="1024128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sz="750" b="1" i="0">
                <a:solidFill>
                  <a:srgbClr val="DDE7F0"/>
                </a:solidFill>
                <a:latin typeface="Aptos"/>
              </a:rPr>
              <a:t>extract
transcript
metadata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22191" y="2331720"/>
            <a:ext cx="1353312" cy="1234440"/>
          </a:xfrm>
          <a:prstGeom prst="roundRect">
            <a:avLst/>
          </a:prstGeom>
          <a:solidFill>
            <a:srgbClr val="0E1522"/>
          </a:solidFill>
          <a:ln w="1143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968496" y="2496312"/>
            <a:ext cx="1060704" cy="228600"/>
          </a:xfrm>
          <a:prstGeom prst="roundRect">
            <a:avLst/>
          </a:prstGeom>
          <a:solidFill>
            <a:srgbClr val="0B1220"/>
          </a:solidFill>
          <a:ln w="1016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r>
              <a:rPr sz="480" b="1">
                <a:solidFill>
                  <a:srgbClr val="9B5CFF"/>
                </a:solidFill>
                <a:latin typeface="Aptos"/>
              </a:rPr>
              <a:t>CHUNK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86783" y="2862072"/>
            <a:ext cx="1024128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sz="750" b="1" i="0">
                <a:solidFill>
                  <a:srgbClr val="DDE7F0"/>
                </a:solidFill>
                <a:latin typeface="Aptos"/>
              </a:rPr>
              <a:t>small units
+ source refs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13832" y="2331720"/>
            <a:ext cx="1353312" cy="1234440"/>
          </a:xfrm>
          <a:prstGeom prst="roundRect">
            <a:avLst/>
          </a:prstGeom>
          <a:solidFill>
            <a:srgbClr val="0E1522"/>
          </a:solidFill>
          <a:ln w="1143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660136" y="2496312"/>
            <a:ext cx="1060704" cy="228600"/>
          </a:xfrm>
          <a:prstGeom prst="roundRect">
            <a:avLst/>
          </a:prstGeom>
          <a:solidFill>
            <a:srgbClr val="0B1220"/>
          </a:solidFill>
          <a:ln w="1016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r>
              <a:rPr sz="480" b="1">
                <a:solidFill>
                  <a:srgbClr val="00F2FE"/>
                </a:solidFill>
                <a:latin typeface="Aptos"/>
              </a:rPr>
              <a:t>RETRIEVE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78424" y="2862072"/>
            <a:ext cx="1024128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sz="750" b="1" i="0">
                <a:solidFill>
                  <a:srgbClr val="DDE7F0"/>
                </a:solidFill>
                <a:latin typeface="Aptos"/>
              </a:rPr>
              <a:t>find relevant
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05472" y="2331720"/>
            <a:ext cx="1353312" cy="1234440"/>
          </a:xfrm>
          <a:prstGeom prst="roundRect">
            <a:avLst/>
          </a:prstGeom>
          <a:solidFill>
            <a:srgbClr val="0E1522"/>
          </a:solidFill>
          <a:ln w="1143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51776" y="2496312"/>
            <a:ext cx="1060704" cy="228600"/>
          </a:xfrm>
          <a:prstGeom prst="roundRect">
            <a:avLst/>
          </a:prstGeom>
          <a:solidFill>
            <a:srgbClr val="0B1220"/>
          </a:solidFill>
          <a:ln w="1016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r>
              <a:rPr sz="480" b="1">
                <a:solidFill>
                  <a:srgbClr val="FFB300"/>
                </a:solidFill>
                <a:latin typeface="Aptos"/>
              </a:rPr>
              <a:t>CITE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0064" y="2862072"/>
            <a:ext cx="1024128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sz="750" b="1" i="0">
                <a:solidFill>
                  <a:srgbClr val="DDE7F0"/>
                </a:solidFill>
                <a:latin typeface="Aptos"/>
              </a:rPr>
              <a:t>attach exact
source trail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97112" y="2331720"/>
            <a:ext cx="1353312" cy="1234440"/>
          </a:xfrm>
          <a:prstGeom prst="roundRect">
            <a:avLst/>
          </a:prstGeom>
          <a:solidFill>
            <a:srgbClr val="0E1522"/>
          </a:solidFill>
          <a:ln w="1143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043416" y="2496312"/>
            <a:ext cx="1060704" cy="228600"/>
          </a:xfrm>
          <a:prstGeom prst="roundRect">
            <a:avLst/>
          </a:prstGeom>
          <a:solidFill>
            <a:srgbClr val="0B1220"/>
          </a:solidFill>
          <a:ln w="1016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r>
              <a:rPr sz="480" b="1">
                <a:solidFill>
                  <a:srgbClr val="00F2FE"/>
                </a:solidFill>
                <a:latin typeface="Aptos"/>
              </a:rPr>
              <a:t>STREAM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61704" y="2862072"/>
            <a:ext cx="1024128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sz="750" b="1" i="0">
                <a:solidFill>
                  <a:srgbClr val="DDE7F0"/>
                </a:solidFill>
                <a:latin typeface="Aptos"/>
              </a:rPr>
              <a:t>answer arrives
fast enough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88752" y="2331720"/>
            <a:ext cx="1353312" cy="1234440"/>
          </a:xfrm>
          <a:prstGeom prst="roundRect">
            <a:avLst/>
          </a:prstGeom>
          <a:solidFill>
            <a:srgbClr val="0E1522"/>
          </a:solidFill>
          <a:ln w="11430">
            <a:solidFill>
              <a:srgbClr val="00D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735056" y="2496312"/>
            <a:ext cx="1060704" cy="228600"/>
          </a:xfrm>
          <a:prstGeom prst="roundRect">
            <a:avLst/>
          </a:prstGeom>
          <a:solidFill>
            <a:srgbClr val="0B1220"/>
          </a:solidFill>
          <a:ln w="10160">
            <a:solidFill>
              <a:srgbClr val="00D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r>
              <a:rPr sz="480" b="1">
                <a:solidFill>
                  <a:srgbClr val="00D084"/>
                </a:solidFill>
                <a:latin typeface="Aptos"/>
              </a:rPr>
              <a:t>METER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53344" y="2862072"/>
            <a:ext cx="1024128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sz="750" b="1" i="0">
                <a:solidFill>
                  <a:srgbClr val="DDE7F0"/>
                </a:solidFill>
                <a:latin typeface="Aptos"/>
              </a:rPr>
              <a:t>usage event
+ cost control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11680" y="3977639"/>
            <a:ext cx="8183879" cy="713232"/>
          </a:xfrm>
          <a:prstGeom prst="roundRect">
            <a:avLst/>
          </a:prstGeom>
          <a:solidFill>
            <a:srgbClr val="101827"/>
          </a:solidFill>
          <a:ln w="10160">
            <a:solidFill>
              <a:srgbClr val="26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04288" y="4169663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800" b="1" i="0">
                <a:solidFill>
                  <a:srgbClr val="00F2FE"/>
                </a:solidFill>
                <a:latin typeface="Aptos"/>
              </a:rPr>
              <a:t>Evidence packet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4160520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Aptos"/>
              </a:rPr>
              <a:t>source_id · chunk_id · timestamp/page · citation marker · usage event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34272" y="4142232"/>
            <a:ext cx="896112" cy="210312"/>
          </a:xfrm>
          <a:prstGeom prst="roundRect">
            <a:avLst/>
          </a:prstGeom>
          <a:solidFill>
            <a:srgbClr val="091A2A"/>
          </a:solidFill>
          <a:ln w="1016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0" rtlCol="0" anchor="ctr"/>
          <a:lstStyle/>
          <a:p>
            <a:pPr algn="ctr"/>
            <a:r>
              <a:rPr sz="480" b="1">
                <a:solidFill>
                  <a:srgbClr val="00F2FE"/>
                </a:solidFill>
                <a:latin typeface="Aptos"/>
              </a:rPr>
              <a:t>TRACEABLE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" y="5257800"/>
            <a:ext cx="3566160" cy="777240"/>
          </a:xfrm>
          <a:prstGeom prst="roundRect">
            <a:avLst/>
          </a:prstGeom>
          <a:solidFill>
            <a:srgbClr val="0E1522"/>
          </a:solidFill>
          <a:ln w="9525"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19" y="5440680"/>
            <a:ext cx="82296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800" b="1" i="0">
                <a:solidFill>
                  <a:srgbClr val="00F2FE"/>
                </a:solidFill>
                <a:latin typeface="Aptos"/>
              </a:rPr>
              <a:t>Quality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17904" y="5422392"/>
            <a:ext cx="224028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910" b="1" i="0">
                <a:solidFill>
                  <a:srgbClr val="F8FAFC"/>
                </a:solidFill>
                <a:latin typeface="Aptos"/>
              </a:rPr>
              <a:t>Claims must point back to source evidence.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25112" y="5257800"/>
            <a:ext cx="3566160" cy="777240"/>
          </a:xfrm>
          <a:prstGeom prst="roundRect">
            <a:avLst/>
          </a:prstGeom>
          <a:solidFill>
            <a:srgbClr val="0E1522"/>
          </a:solidFill>
          <a:ln w="9525"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26280" y="5440680"/>
            <a:ext cx="82296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800" b="1" i="0">
                <a:solidFill>
                  <a:srgbClr val="9B5CFF"/>
                </a:solidFill>
                <a:latin typeface="Aptos"/>
              </a:rPr>
              <a:t>Learning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12664" y="5422392"/>
            <a:ext cx="224028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910" b="1" i="0">
                <a:solidFill>
                  <a:srgbClr val="F8FAFC"/>
                </a:solidFill>
                <a:latin typeface="Aptos"/>
              </a:rPr>
              <a:t>The same pipeline powers sources and resumes.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19872" y="5257800"/>
            <a:ext cx="3566160" cy="777240"/>
          </a:xfrm>
          <a:prstGeom prst="roundRect">
            <a:avLst/>
          </a:prstGeom>
          <a:solidFill>
            <a:srgbClr val="0E1522"/>
          </a:solidFill>
          <a:ln w="9525"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21040" y="5440680"/>
            <a:ext cx="82296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800" b="1" i="0">
                <a:solidFill>
                  <a:srgbClr val="00D084"/>
                </a:solidFill>
                <a:latin typeface="Aptos"/>
              </a:rPr>
              <a:t>Business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07424" y="5422392"/>
            <a:ext cx="224028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910" b="1" i="0">
                <a:solidFill>
                  <a:srgbClr val="F8FAFC"/>
                </a:solidFill>
                <a:latin typeface="Aptos"/>
              </a:rPr>
              <a:t>Metering connects product UX to unit economics.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6336792"/>
            <a:ext cx="10241280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sz="730" b="0" i="0">
                <a:solidFill>
                  <a:srgbClr val="94A3B8"/>
                </a:solidFill>
                <a:latin typeface="Aptos"/>
              </a:rPr>
              <a:t>This is why the later slides can talk about real cost, rolling limits and pricing — the product records what it spends.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438912"/>
            <a:ext cx="3429000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Your CV becomes
a source.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1261872"/>
            <a:ext cx="3749039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A7B3C7"/>
                </a:solidFill>
                <a:latin typeface="Aptos"/>
              </a:rPr>
              <a:t>Lumora turns a resume into a skill map, role fit and gap inventory.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920240"/>
            <a:ext cx="164592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4F7FB"/>
                </a:solidFill>
                <a:latin typeface="Aptos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05456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8F79FF"/>
                </a:solidFill>
                <a:latin typeface="Aptos"/>
              </a:rPr>
              <a:t>SKILLS IDENTIFIED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3419856"/>
            <a:ext cx="164592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4F7FB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95928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8F79FF"/>
                </a:solidFill>
                <a:latin typeface="Aptos"/>
              </a:rPr>
              <a:t>TARGET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892040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4F7FB"/>
                </a:solidFill>
                <a:latin typeface="Aptos"/>
              </a:rPr>
              <a:t>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21808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73819A"/>
                </a:solidFill>
                <a:latin typeface="Aptos"/>
              </a:rPr>
              <a:t>STRONGEST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5870448"/>
            <a:ext cx="27432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A7B3C7"/>
                </a:solidFill>
                <a:latin typeface="Aptos"/>
              </a:rPr>
              <a:t>It does not just score a resume. It tells the learner where they can credibly fit next.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05656" y="1636776"/>
            <a:ext cx="6986016" cy="4791456"/>
          </a:xfrm>
          <a:prstGeom prst="roundRect">
            <a:avLst>
              <a:gd name="adj" fmla="val 12000"/>
            </a:avLst>
          </a:prstGeom>
          <a:solidFill>
            <a:srgbClr val="0B0F17"/>
          </a:solidFill>
          <a:ln w="1016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133087" y="1664208"/>
            <a:ext cx="6931152" cy="4736592"/>
          </a:xfrm>
          <a:prstGeom prst="roundRect">
            <a:avLst>
              <a:gd name="adj" fmla="val 12000"/>
            </a:avLst>
          </a:prstGeom>
          <a:solidFill>
            <a:srgbClr val="101827"/>
          </a:solidFill>
          <a:ln w="14604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34256" y="179222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00F2FE"/>
                </a:solidFill>
                <a:latin typeface="Aptos"/>
              </a:rPr>
              <a:t>LIVE PRODUCT VIEW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886" y="2121408"/>
            <a:ext cx="5053554" cy="416966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4320" y="6446520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3819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6766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4F7FB"/>
                </a:solidFill>
                <a:latin typeface="Aptos"/>
              </a:rPr>
              <a:t>Fit score is only the start.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0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A7B3C7"/>
                </a:solidFill>
                <a:latin typeface="Aptos"/>
              </a:rPr>
              <a:t>The useful part is the specific gap breakdown: skill, project evidence and interview readiness.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81912"/>
            <a:ext cx="5495544" cy="4489704"/>
          </a:xfrm>
          <a:prstGeom prst="roundRect">
            <a:avLst>
              <a:gd name="adj" fmla="val 12000"/>
            </a:avLst>
          </a:prstGeom>
          <a:solidFill>
            <a:srgbClr val="0B0F17"/>
          </a:solidFill>
          <a:ln w="1016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13232" y="1609344"/>
            <a:ext cx="5440680" cy="4434840"/>
          </a:xfrm>
          <a:prstGeom prst="roundRect">
            <a:avLst>
              <a:gd name="adj" fmla="val 12000"/>
            </a:avLst>
          </a:prstGeom>
          <a:solidFill>
            <a:srgbClr val="121A27"/>
          </a:solidFill>
          <a:ln w="14604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36792" y="1581912"/>
            <a:ext cx="4718304" cy="4489704"/>
          </a:xfrm>
          <a:prstGeom prst="roundRect">
            <a:avLst>
              <a:gd name="adj" fmla="val 12000"/>
            </a:avLst>
          </a:prstGeom>
          <a:solidFill>
            <a:srgbClr val="0B0F17"/>
          </a:solidFill>
          <a:ln w="1016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64224" y="1609344"/>
            <a:ext cx="4663440" cy="4434840"/>
          </a:xfrm>
          <a:prstGeom prst="roundRect">
            <a:avLst>
              <a:gd name="adj" fmla="val 12000"/>
            </a:avLst>
          </a:prstGeom>
          <a:solidFill>
            <a:srgbClr val="121A27"/>
          </a:solidFill>
          <a:ln w="14604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lide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941166"/>
            <a:ext cx="5330952" cy="3771194"/>
          </a:xfrm>
          <a:prstGeom prst="rect">
            <a:avLst/>
          </a:prstGeom>
        </p:spPr>
      </p:pic>
      <p:pic>
        <p:nvPicPr>
          <p:cNvPr id="9" name="Picture 8" descr="slide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170" y="1664208"/>
            <a:ext cx="4421547" cy="43251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1248" y="6236208"/>
            <a:ext cx="10131552" cy="457200"/>
          </a:xfrm>
          <a:prstGeom prst="roundRect">
            <a:avLst>
              <a:gd name="adj" fmla="val 10000"/>
            </a:avLst>
          </a:prstGeom>
          <a:solidFill>
            <a:srgbClr val="181627"/>
          </a:solidFill>
          <a:ln w="14604">
            <a:solidFill>
              <a:srgbClr val="8F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6345936"/>
            <a:ext cx="98023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20" b="1">
                <a:solidFill>
                  <a:srgbClr val="8F79FF"/>
                </a:solidFill>
                <a:latin typeface="Aptos"/>
              </a:rPr>
              <a:t>Same resume. Multiple career paths. Different gaps. That is why this is Skill Intelligence, not resume scoring.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446520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3819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347472"/>
            <a:ext cx="96926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4F7FB"/>
                </a:solidFill>
                <a:latin typeface="Aptos"/>
              </a:rPr>
              <a:t>Knowing the gap is the easy half.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412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A7B3C7"/>
                </a:solidFill>
                <a:latin typeface="Aptos"/>
              </a:rPr>
              <a:t>A gap you cannot close is just another report.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45336"/>
            <a:ext cx="3300984" cy="4242816"/>
          </a:xfrm>
          <a:prstGeom prst="roundRect">
            <a:avLst>
              <a:gd name="adj" fmla="val 13000"/>
            </a:avLst>
          </a:prstGeom>
          <a:solidFill>
            <a:srgbClr val="0B0F17"/>
          </a:solidFill>
          <a:ln w="10795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572768"/>
            <a:ext cx="3246120" cy="4187952"/>
          </a:xfrm>
          <a:prstGeom prst="roundRect">
            <a:avLst>
              <a:gd name="adj" fmla="val 13000"/>
            </a:avLst>
          </a:prstGeom>
          <a:solidFill>
            <a:srgbClr val="121A27"/>
          </a:solidFill>
          <a:ln w="14604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1353312"/>
            <a:ext cx="987552" cy="292608"/>
          </a:xfrm>
          <a:prstGeom prst="roundRect">
            <a:avLst>
              <a:gd name="adj" fmla="val 18000"/>
            </a:avLst>
          </a:prstGeom>
          <a:solidFill>
            <a:srgbClr val="102231"/>
          </a:solidFill>
          <a:ln w="13335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26464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0F2FE"/>
                </a:solidFill>
                <a:latin typeface="Aptos"/>
              </a:rPr>
              <a:t>GAP</a:t>
            </a:r>
          </a:p>
        </p:txBody>
      </p:sp>
      <p:pic>
        <p:nvPicPr>
          <p:cNvPr id="8" name="Picture 7" descr="gap_full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451370"/>
            <a:ext cx="3099816" cy="243074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97096" y="1545336"/>
            <a:ext cx="3300984" cy="4242816"/>
          </a:xfrm>
          <a:prstGeom prst="roundRect">
            <a:avLst>
              <a:gd name="adj" fmla="val 13000"/>
            </a:avLst>
          </a:prstGeom>
          <a:solidFill>
            <a:srgbClr val="0B0F17"/>
          </a:solidFill>
          <a:ln w="10795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24528" y="1572768"/>
            <a:ext cx="3246120" cy="4187952"/>
          </a:xfrm>
          <a:prstGeom prst="roundRect">
            <a:avLst>
              <a:gd name="adj" fmla="val 13000"/>
            </a:avLst>
          </a:prstGeom>
          <a:solidFill>
            <a:srgbClr val="121A27"/>
          </a:solidFill>
          <a:ln w="14604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9120" y="1353312"/>
            <a:ext cx="987552" cy="292608"/>
          </a:xfrm>
          <a:prstGeom prst="roundRect">
            <a:avLst>
              <a:gd name="adj" fmla="val 18000"/>
            </a:avLst>
          </a:prstGeom>
          <a:solidFill>
            <a:srgbClr val="102231"/>
          </a:solidFill>
          <a:ln w="13335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25696" y="1426464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0F2FE"/>
                </a:solidFill>
                <a:latin typeface="Aptos"/>
              </a:rPr>
              <a:t>PLAN</a:t>
            </a:r>
          </a:p>
        </p:txBody>
      </p:sp>
      <p:pic>
        <p:nvPicPr>
          <p:cNvPr id="13" name="Picture 12" descr="plan_full_roun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532415"/>
            <a:ext cx="3099816" cy="226865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827264" y="1545336"/>
            <a:ext cx="3300984" cy="4242816"/>
          </a:xfrm>
          <a:prstGeom prst="roundRect">
            <a:avLst>
              <a:gd name="adj" fmla="val 13000"/>
            </a:avLst>
          </a:prstGeom>
          <a:solidFill>
            <a:srgbClr val="0B0F17"/>
          </a:solidFill>
          <a:ln w="10795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854696" y="1572768"/>
            <a:ext cx="3246120" cy="4187952"/>
          </a:xfrm>
          <a:prstGeom prst="roundRect">
            <a:avLst>
              <a:gd name="adj" fmla="val 13000"/>
            </a:avLst>
          </a:prstGeom>
          <a:solidFill>
            <a:srgbClr val="121A27"/>
          </a:solidFill>
          <a:ln w="14604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19288" y="1353312"/>
            <a:ext cx="987552" cy="292608"/>
          </a:xfrm>
          <a:prstGeom prst="roundRect">
            <a:avLst>
              <a:gd name="adj" fmla="val 18000"/>
            </a:avLst>
          </a:prstGeom>
          <a:solidFill>
            <a:srgbClr val="102231"/>
          </a:solidFill>
          <a:ln w="13335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55864" y="1426464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0F2FE"/>
                </a:solidFill>
                <a:latin typeface="Aptos"/>
              </a:rPr>
              <a:t>RESOURCE</a:t>
            </a:r>
          </a:p>
        </p:txBody>
      </p:sp>
      <p:pic>
        <p:nvPicPr>
          <p:cNvPr id="18" name="Picture 17" descr="resource_full_roun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48" y="2603898"/>
            <a:ext cx="3099816" cy="2125691"/>
          </a:xfrm>
          <a:prstGeom prst="rect">
            <a:avLst/>
          </a:prstGeom>
        </p:spPr>
      </p:pic>
      <p:cxnSp>
        <p:nvCxnSpPr>
          <p:cNvPr id="19" name="Connector 18"/>
          <p:cNvCxnSpPr/>
          <p:nvPr/>
        </p:nvCxnSpPr>
        <p:spPr>
          <a:xfrm>
            <a:off x="3877056" y="0"/>
            <a:ext cx="274320" cy="0"/>
          </a:xfrm>
          <a:prstGeom prst="line">
            <a:avLst/>
          </a:prstGeom>
          <a:ln w="32384">
            <a:solidFill>
              <a:srgbClr val="00F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33088" y="353872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00F2FE"/>
                </a:solidFill>
                <a:latin typeface="Aptos"/>
              </a:rPr>
              <a:t>›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07224" y="0"/>
            <a:ext cx="274320" cy="0"/>
          </a:xfrm>
          <a:prstGeom prst="line">
            <a:avLst/>
          </a:prstGeom>
          <a:ln w="32384">
            <a:solidFill>
              <a:srgbClr val="67F2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63256" y="353872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67F2A7"/>
                </a:solidFill>
                <a:latin typeface="Aptos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" y="6181344"/>
            <a:ext cx="10021824" cy="475488"/>
          </a:xfrm>
          <a:prstGeom prst="roundRect">
            <a:avLst>
              <a:gd name="adj" fmla="val 10000"/>
            </a:avLst>
          </a:prstGeom>
          <a:solidFill>
            <a:srgbClr val="171D27"/>
          </a:solidFill>
          <a:ln w="12700">
            <a:solidFill>
              <a:srgbClr val="2B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0704" y="6327648"/>
            <a:ext cx="96194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4F7FB"/>
                </a:solidFill>
                <a:latin typeface="Aptos"/>
              </a:rPr>
              <a:t>Gap → roadmap → project evidence → courses → YouTube / ChaiCode resources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0" y="6446520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3819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804672"/>
            <a:ext cx="2057400" cy="2057400"/>
          </a:xfrm>
          <a:prstGeom prst="ellipse">
            <a:avLst/>
          </a:prstGeom>
          <a:solidFill>
            <a:srgbClr val="08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91472" y="896112"/>
            <a:ext cx="1874519" cy="1874519"/>
          </a:xfrm>
          <a:prstGeom prst="ellipse">
            <a:avLst/>
          </a:prstGeom>
          <a:solidFill>
            <a:srgbClr val="0B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438912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F4F7FB"/>
                </a:solidFill>
                <a:latin typeface="Aptos"/>
              </a:rPr>
              <a:t>Early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A8B4C8"/>
                </a:solidFill>
                <a:latin typeface="Aptos"/>
              </a:rPr>
              <a:t>Real, not modelled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548640"/>
            <a:ext cx="2377440" cy="384048"/>
          </a:xfrm>
          <a:prstGeom prst="roundRect">
            <a:avLst>
              <a:gd name="adj" fmla="val 9000"/>
            </a:avLst>
          </a:prstGeom>
          <a:solidFill>
            <a:srgbClr val="151D2A"/>
          </a:solidFill>
          <a:ln w="14604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79408" y="676656"/>
            <a:ext cx="2057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1">
                <a:solidFill>
                  <a:srgbClr val="00F2FE"/>
                </a:solidFill>
                <a:latin typeface="Aptos"/>
              </a:rPr>
              <a:t>LIVE PRE-SUBMISSION SIGNAL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81328"/>
            <a:ext cx="2578608" cy="1645920"/>
          </a:xfrm>
          <a:prstGeom prst="roundRect">
            <a:avLst>
              <a:gd name="adj" fmla="val 9000"/>
            </a:avLst>
          </a:prstGeom>
          <a:solidFill>
            <a:srgbClr val="121720"/>
          </a:solidFill>
          <a:ln w="1651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" y="1609344"/>
            <a:ext cx="2286000" cy="32004"/>
          </a:xfrm>
          <a:prstGeom prst="rect">
            <a:avLst/>
          </a:prstGeom>
          <a:solidFill>
            <a:srgbClr val="3A4356"/>
          </a:solidFill>
          <a:ln>
            <a:solidFill>
              <a:srgbClr val="3A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847088"/>
            <a:ext cx="21396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4F7FB"/>
                </a:solidFill>
                <a:latin typeface="Aptos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23160"/>
            <a:ext cx="213969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E7A8F"/>
                </a:solidFill>
                <a:latin typeface="Aptos"/>
              </a:rPr>
              <a:t>REAL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706624"/>
            <a:ext cx="21396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A8B4C8"/>
                </a:solidFill>
                <a:latin typeface="Aptos"/>
              </a:rPr>
              <a:t>people actually used Lumora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481328"/>
            <a:ext cx="2578608" cy="1645920"/>
          </a:xfrm>
          <a:prstGeom prst="roundRect">
            <a:avLst>
              <a:gd name="adj" fmla="val 9000"/>
            </a:avLst>
          </a:prstGeom>
          <a:solidFill>
            <a:srgbClr val="121720"/>
          </a:solidFill>
          <a:ln w="1651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02736" y="1609344"/>
            <a:ext cx="2286000" cy="32004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75888" y="1847088"/>
            <a:ext cx="21396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0F2FE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8" y="2423160"/>
            <a:ext cx="213969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E7A8F"/>
                </a:solidFill>
                <a:latin typeface="Aptos"/>
              </a:rPr>
              <a:t>PAID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8" y="2706624"/>
            <a:ext cx="21396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A8B4C8"/>
                </a:solidFill>
                <a:latin typeface="Aptos"/>
              </a:rPr>
              <a:t>real willingness to pay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1481328"/>
            <a:ext cx="2578608" cy="1645920"/>
          </a:xfrm>
          <a:prstGeom prst="roundRect">
            <a:avLst>
              <a:gd name="adj" fmla="val 9000"/>
            </a:avLst>
          </a:prstGeom>
          <a:solidFill>
            <a:srgbClr val="121720"/>
          </a:solidFill>
          <a:ln w="16510">
            <a:solidFill>
              <a:srgbClr val="3EF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19088" y="1609344"/>
            <a:ext cx="2286000" cy="32004"/>
          </a:xfrm>
          <a:prstGeom prst="rect">
            <a:avLst/>
          </a:prstGeom>
          <a:solidFill>
            <a:srgbClr val="3EF5A3"/>
          </a:solidFill>
          <a:ln>
            <a:solidFill>
              <a:srgbClr val="3EF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1847088"/>
            <a:ext cx="21396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3EF5A3"/>
                </a:solidFill>
                <a:latin typeface="Aptos"/>
              </a:rPr>
              <a:t>₹2.25K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23160"/>
            <a:ext cx="213969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E7A8F"/>
                </a:solidFill>
                <a:latin typeface="Aptos"/>
              </a:rPr>
              <a:t>GROSS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706624"/>
            <a:ext cx="21396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A8B4C8"/>
                </a:solidFill>
                <a:latin typeface="Aptos"/>
              </a:rPr>
              <a:t>3 Core full-price · 1 Max coupon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89136" y="1481328"/>
            <a:ext cx="2578608" cy="1645920"/>
          </a:xfrm>
          <a:prstGeom prst="roundRect">
            <a:avLst>
              <a:gd name="adj" fmla="val 9000"/>
            </a:avLst>
          </a:prstGeom>
          <a:solidFill>
            <a:srgbClr val="121720"/>
          </a:solidFill>
          <a:ln w="1651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35440" y="1609344"/>
            <a:ext cx="2286000" cy="32004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08592" y="1847088"/>
            <a:ext cx="21396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8F79FF"/>
                </a:solidFill>
                <a:latin typeface="Aptos"/>
              </a:rPr>
              <a:t>~20K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2423160"/>
            <a:ext cx="213969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E7A8F"/>
                </a:solidFill>
                <a:latin typeface="Aptos"/>
              </a:rPr>
              <a:t>CONTENT VIEWS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2706624"/>
            <a:ext cx="21396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A8B4C8"/>
                </a:solidFill>
                <a:latin typeface="Aptos"/>
              </a:rPr>
              <a:t>97% from non-followers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" y="3456432"/>
            <a:ext cx="10607040" cy="585216"/>
          </a:xfrm>
          <a:prstGeom prst="roundRect">
            <a:avLst>
              <a:gd name="adj" fmla="val 10000"/>
            </a:avLst>
          </a:prstGeom>
          <a:solidFill>
            <a:srgbClr val="161D28"/>
          </a:solidFill>
          <a:ln w="14604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3639312"/>
            <a:ext cx="9966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4F7FB"/>
                </a:solidFill>
                <a:latin typeface="Aptos"/>
              </a:rPr>
              <a:t>Early willingness-to-pay validation — small sample, but real behaviour.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297680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0F2FE"/>
                </a:solidFill>
                <a:latin typeface="Aptos"/>
              </a:rPr>
              <a:t>DISCOVERY → CONVERSATION → TRIAL → PAID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617720"/>
            <a:ext cx="1874519" cy="786384"/>
          </a:xfrm>
          <a:prstGeom prst="roundRect">
            <a:avLst>
              <a:gd name="adj" fmla="val 10000"/>
            </a:avLst>
          </a:prstGeom>
          <a:solidFill>
            <a:srgbClr val="121825"/>
          </a:solidFill>
          <a:ln w="1270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8" y="4782312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F4F7FB"/>
                </a:solidFill>
                <a:latin typeface="Aptos"/>
              </a:rPr>
              <a:t>20K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111496"/>
            <a:ext cx="18745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6E7A8F"/>
                </a:solidFill>
                <a:latin typeface="Aptos"/>
              </a:rPr>
              <a:t>VIEWS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651759" y="5010912"/>
            <a:ext cx="118872" cy="0"/>
          </a:xfrm>
          <a:prstGeom prst="line">
            <a:avLst/>
          </a:prstGeom>
          <a:ln w="19685">
            <a:solidFill>
              <a:srgbClr val="394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670047" y="4882896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394456"/>
                </a:solidFill>
                <a:latin typeface="Aptos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07207" y="4617720"/>
            <a:ext cx="1874519" cy="786384"/>
          </a:xfrm>
          <a:prstGeom prst="roundRect">
            <a:avLst>
              <a:gd name="adj" fmla="val 10000"/>
            </a:avLst>
          </a:prstGeom>
          <a:solidFill>
            <a:srgbClr val="121825"/>
          </a:solidFill>
          <a:ln w="1270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07207" y="4782312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F4F7FB"/>
                </a:solidFill>
                <a:latin typeface="Aptos"/>
              </a:rPr>
              <a:t>97%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07207" y="5111496"/>
            <a:ext cx="18745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6E7A8F"/>
                </a:solidFill>
                <a:latin typeface="Aptos"/>
              </a:rPr>
              <a:t>NON-FOLLOWERS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709158" y="5010912"/>
            <a:ext cx="118872" cy="0"/>
          </a:xfrm>
          <a:prstGeom prst="line">
            <a:avLst/>
          </a:prstGeom>
          <a:ln w="19685">
            <a:solidFill>
              <a:srgbClr val="394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727446" y="4882896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394456"/>
                </a:solidFill>
                <a:latin typeface="Aptos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64606" y="4617720"/>
            <a:ext cx="1874519" cy="786384"/>
          </a:xfrm>
          <a:prstGeom prst="roundRect">
            <a:avLst>
              <a:gd name="adj" fmla="val 10000"/>
            </a:avLst>
          </a:prstGeom>
          <a:solidFill>
            <a:srgbClr val="121825"/>
          </a:solidFill>
          <a:ln w="1270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64606" y="4782312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F4F7FB"/>
                </a:solidFill>
                <a:latin typeface="Aptos"/>
              </a:rPr>
              <a:t>10–12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64606" y="5111496"/>
            <a:ext cx="18745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6E7A8F"/>
                </a:solidFill>
                <a:latin typeface="Aptos"/>
              </a:rPr>
              <a:t>CONVERSATIONS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766557" y="5010912"/>
            <a:ext cx="118872" cy="0"/>
          </a:xfrm>
          <a:prstGeom prst="line">
            <a:avLst/>
          </a:prstGeom>
          <a:ln w="19685">
            <a:solidFill>
              <a:srgbClr val="394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784845" y="4882896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394456"/>
                </a:solidFill>
                <a:latin typeface="Aptos"/>
              </a:rPr>
              <a:t>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22005" y="4617720"/>
            <a:ext cx="1874519" cy="786384"/>
          </a:xfrm>
          <a:prstGeom prst="roundRect">
            <a:avLst>
              <a:gd name="adj" fmla="val 10000"/>
            </a:avLst>
          </a:prstGeom>
          <a:solidFill>
            <a:srgbClr val="121825"/>
          </a:solidFill>
          <a:ln w="1270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922005" y="4782312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F4F7FB"/>
                </a:solidFill>
                <a:latin typeface="Aptos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22005" y="5111496"/>
            <a:ext cx="18745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6E7A8F"/>
                </a:solidFill>
                <a:latin typeface="Aptos"/>
              </a:rPr>
              <a:t>USERS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823956" y="5010912"/>
            <a:ext cx="118872" cy="0"/>
          </a:xfrm>
          <a:prstGeom prst="line">
            <a:avLst/>
          </a:prstGeom>
          <a:ln w="19685">
            <a:solidFill>
              <a:srgbClr val="394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842244" y="4882896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394456"/>
                </a:solidFill>
                <a:latin typeface="Aptos"/>
              </a:rPr>
              <a:t>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79404" y="4617720"/>
            <a:ext cx="1874519" cy="786384"/>
          </a:xfrm>
          <a:prstGeom prst="roundRect">
            <a:avLst>
              <a:gd name="adj" fmla="val 10000"/>
            </a:avLst>
          </a:prstGeom>
          <a:solidFill>
            <a:srgbClr val="102A34"/>
          </a:solidFill>
          <a:ln w="15875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979404" y="4782312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00F2FE"/>
                </a:solidFill>
                <a:latin typeface="Aptos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79404" y="5111496"/>
            <a:ext cx="18745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00F2FE"/>
                </a:solidFill>
                <a:latin typeface="Aptos"/>
              </a:rPr>
              <a:t>PAID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98848" y="5870448"/>
            <a:ext cx="34747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6E7A8F"/>
                </a:solidFill>
                <a:latin typeface="Aptos"/>
              </a:rPr>
              <a:t>No fake conversion claim. No inflated traction.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722608" y="6473952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E7A8F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 w="12700">
            <a:solidFill>
              <a:srgbClr val="0A0B0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402568" y="64556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9006840" y="777240"/>
            <a:ext cx="1828800" cy="1828800"/>
          </a:xfrm>
          <a:prstGeom prst="ellipse">
            <a:avLst/>
          </a:prstGeom>
          <a:solidFill>
            <a:srgbClr val="8B7DF0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933688" y="704088"/>
            <a:ext cx="1975104" cy="1975104"/>
          </a:xfrm>
          <a:prstGeom prst="ellipse">
            <a:avLst/>
          </a:prstGeom>
          <a:solidFill>
            <a:srgbClr val="8B7DF0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860536" y="630936"/>
            <a:ext cx="2121408" cy="2121408"/>
          </a:xfrm>
          <a:prstGeom prst="ellipse">
            <a:avLst/>
          </a:prstGeom>
          <a:solidFill>
            <a:srgbClr val="8B7DF0">
              <a:alpha val="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787384" y="557784"/>
            <a:ext cx="2267712" cy="2267712"/>
          </a:xfrm>
          <a:prstGeom prst="ellipse">
            <a:avLst/>
          </a:prstGeom>
          <a:solidFill>
            <a:srgbClr val="8B7DF0">
              <a:alpha val="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37160" y="5120640"/>
            <a:ext cx="1417320" cy="1417320"/>
          </a:xfrm>
          <a:prstGeom prst="ellipse">
            <a:avLst/>
          </a:prstGeom>
          <a:solidFill>
            <a:srgbClr val="4DD8E6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008" y="5047488"/>
            <a:ext cx="1563624" cy="1563624"/>
          </a:xfrm>
          <a:prstGeom prst="ellipse">
            <a:avLst/>
          </a:prstGeom>
          <a:solidFill>
            <a:srgbClr val="4DD8E6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-9144" y="4974336"/>
            <a:ext cx="1709928" cy="1709928"/>
          </a:xfrm>
          <a:prstGeom prst="ellipse">
            <a:avLst/>
          </a:prstGeom>
          <a:solidFill>
            <a:srgbClr val="4DD8E6">
              <a:alpha val="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-82296" y="4901184"/>
            <a:ext cx="1856232" cy="1856232"/>
          </a:xfrm>
          <a:prstGeom prst="ellipse">
            <a:avLst/>
          </a:prstGeom>
          <a:solidFill>
            <a:srgbClr val="4DD8E6">
              <a:alpha val="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008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Paid Users Valued Most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58368" y="10515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feedback from early paid users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915400" y="530352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C1F24"/>
          </a:solidFill>
          <a:ln w="11430">
            <a:solidFill>
              <a:srgbClr val="2FE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162288" y="658368"/>
            <a:ext cx="16093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70" b="1" dirty="0">
                <a:solidFill>
                  <a:srgbClr val="2FE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HINGLISH · VERBATIM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621792" y="1545336"/>
            <a:ext cx="3319272" cy="4507992"/>
          </a:xfrm>
          <a:prstGeom prst="roundRect">
            <a:avLst>
              <a:gd name="adj" fmla="val 2755"/>
            </a:avLst>
          </a:prstGeom>
          <a:solidFill>
            <a:srgbClr val="8B7DF0">
              <a:alpha val="3000"/>
            </a:srgbClr>
          </a:solidFill>
          <a:ln w="13970">
            <a:solidFill>
              <a:srgbClr val="8B7DF0">
                <a:alpha val="4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58368" y="1581912"/>
            <a:ext cx="3246120" cy="4425696"/>
          </a:xfrm>
          <a:prstGeom prst="roundRect">
            <a:avLst>
              <a:gd name="adj" fmla="val 2254"/>
            </a:avLst>
          </a:prstGeom>
          <a:solidFill>
            <a:srgbClr val="141619">
              <a:alpha val="95000"/>
            </a:srgbClr>
          </a:solidFill>
          <a:ln w="15875">
            <a:solidFill>
              <a:srgbClr val="8B7D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86968" y="1865376"/>
            <a:ext cx="283464" cy="283464"/>
          </a:xfrm>
          <a:prstGeom prst="ellipse">
            <a:avLst/>
          </a:prstGeom>
          <a:solidFill>
            <a:srgbClr val="8B7DF0">
              <a:alpha val="14000"/>
            </a:srgbClr>
          </a:solidFill>
          <a:ln w="10160">
            <a:solidFill>
              <a:srgbClr val="8B7D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41832" y="1828800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8B7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16736" y="1920240"/>
            <a:ext cx="16642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8B7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INTELLIGENCE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2715768" y="1847088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1C1F24"/>
          </a:solidFill>
          <a:ln w="10160">
            <a:solidFill>
              <a:srgbClr val="8B7D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770632" y="1938528"/>
            <a:ext cx="850392" cy="50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0" b="1" dirty="0">
                <a:solidFill>
                  <a:srgbClr val="8B7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· MAX</a:t>
            </a:r>
            <a:endParaRPr lang="en-US" sz="670" dirty="0"/>
          </a:p>
        </p:txBody>
      </p:sp>
      <p:sp>
        <p:nvSpPr>
          <p:cNvPr id="23" name="Text 21"/>
          <p:cNvSpPr/>
          <p:nvPr/>
        </p:nvSpPr>
        <p:spPr>
          <a:xfrm>
            <a:off x="905256" y="2359152"/>
            <a:ext cx="27523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4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“Skill Intelligence</a:t>
            </a:r>
            <a:endParaRPr lang="en-US" sz="204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204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is Bang on...”</a:t>
            </a:r>
            <a:endParaRPr lang="en-US" sz="2040" dirty="0"/>
          </a:p>
        </p:txBody>
      </p:sp>
      <p:sp>
        <p:nvSpPr>
          <p:cNvPr id="24" name="Text 22"/>
          <p:cNvSpPr/>
          <p:nvPr/>
        </p:nvSpPr>
        <p:spPr>
          <a:xfrm>
            <a:off x="923544" y="354787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 analysis + ChaiCode resources were explicitly called out.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23544" y="4270248"/>
            <a:ext cx="7772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PROOF</a:t>
            </a:r>
            <a:endParaRPr lang="en-US" sz="710" dirty="0"/>
          </a:p>
        </p:txBody>
      </p:sp>
      <p:sp>
        <p:nvSpPr>
          <p:cNvPr id="26" name="Shape 24"/>
          <p:cNvSpPr/>
          <p:nvPr/>
        </p:nvSpPr>
        <p:spPr>
          <a:xfrm>
            <a:off x="886968" y="4480560"/>
            <a:ext cx="2788920" cy="1179576"/>
          </a:xfrm>
          <a:prstGeom prst="roundRect">
            <a:avLst>
              <a:gd name="adj" fmla="val 6202"/>
            </a:avLst>
          </a:prstGeom>
          <a:solidFill>
            <a:srgbClr val="1C1F24"/>
          </a:solidFill>
          <a:ln w="10160">
            <a:solidFill>
              <a:srgbClr val="8B7D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7" name="Image 0" descr="/mnt/data/96453989-b45a-4d59-8f21-d55e936818ab.png"/>
          <p:cNvPicPr>
            <a:picLocks noChangeAspect="1"/>
          </p:cNvPicPr>
          <p:nvPr/>
        </p:nvPicPr>
        <p:blipFill>
          <a:blip r:embed="rId3"/>
          <a:srcRect l="3000" t="23000" r="54108" b="52000"/>
          <a:stretch/>
        </p:blipFill>
        <p:spPr>
          <a:xfrm>
            <a:off x="905256" y="4498848"/>
            <a:ext cx="2752344" cy="114300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905256" y="5760720"/>
            <a:ext cx="2752344" cy="54864"/>
          </a:xfrm>
          <a:prstGeom prst="roundRect">
            <a:avLst>
              <a:gd name="adj" fmla="val 33333"/>
            </a:avLst>
          </a:prstGeom>
          <a:solidFill>
            <a:srgbClr val="8B7DF0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6"/>
          <p:cNvSpPr/>
          <p:nvPr/>
        </p:nvSpPr>
        <p:spPr>
          <a:xfrm>
            <a:off x="4352544" y="1545336"/>
            <a:ext cx="3319272" cy="4507992"/>
          </a:xfrm>
          <a:prstGeom prst="roundRect">
            <a:avLst>
              <a:gd name="adj" fmla="val 2755"/>
            </a:avLst>
          </a:prstGeom>
          <a:solidFill>
            <a:srgbClr val="4DD8E6">
              <a:alpha val="3000"/>
            </a:srgbClr>
          </a:solidFill>
          <a:ln w="13970">
            <a:solidFill>
              <a:srgbClr val="4DD8E6">
                <a:alpha val="4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7"/>
          <p:cNvSpPr/>
          <p:nvPr/>
        </p:nvSpPr>
        <p:spPr>
          <a:xfrm>
            <a:off x="4389120" y="1581912"/>
            <a:ext cx="3246120" cy="4425696"/>
          </a:xfrm>
          <a:prstGeom prst="roundRect">
            <a:avLst>
              <a:gd name="adj" fmla="val 2254"/>
            </a:avLst>
          </a:prstGeom>
          <a:solidFill>
            <a:srgbClr val="141619">
              <a:alpha val="95000"/>
            </a:srgbClr>
          </a:solidFill>
          <a:ln w="11430">
            <a:solidFill>
              <a:srgbClr val="4DD8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8"/>
          <p:cNvSpPr/>
          <p:nvPr/>
        </p:nvSpPr>
        <p:spPr>
          <a:xfrm>
            <a:off x="4617720" y="1865376"/>
            <a:ext cx="283464" cy="283464"/>
          </a:xfrm>
          <a:prstGeom prst="ellipse">
            <a:avLst/>
          </a:prstGeom>
          <a:solidFill>
            <a:srgbClr val="4DD8E6">
              <a:alpha val="14000"/>
            </a:srgbClr>
          </a:solidFill>
          <a:ln w="10160">
            <a:solidFill>
              <a:srgbClr val="4DD8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4672584" y="1828800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DD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5047488" y="1920240"/>
            <a:ext cx="16642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4DD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→ ROADMAP</a:t>
            </a:r>
            <a:endParaRPr lang="en-US" sz="760" dirty="0"/>
          </a:p>
        </p:txBody>
      </p:sp>
      <p:sp>
        <p:nvSpPr>
          <p:cNvPr id="34" name="Shape 31"/>
          <p:cNvSpPr/>
          <p:nvPr/>
        </p:nvSpPr>
        <p:spPr>
          <a:xfrm>
            <a:off x="6446520" y="1847088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1C1F24"/>
          </a:solidFill>
          <a:ln w="10160">
            <a:solidFill>
              <a:srgbClr val="4DD8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501384" y="1938528"/>
            <a:ext cx="850392" cy="50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0" b="1" dirty="0">
                <a:solidFill>
                  <a:srgbClr val="4DD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· CORE</a:t>
            </a:r>
            <a:endParaRPr lang="en-US" sz="670" dirty="0"/>
          </a:p>
        </p:txBody>
      </p:sp>
      <p:sp>
        <p:nvSpPr>
          <p:cNvPr id="36" name="Text 33"/>
          <p:cNvSpPr/>
          <p:nvPr/>
        </p:nvSpPr>
        <p:spPr>
          <a:xfrm>
            <a:off x="4636008" y="2359152"/>
            <a:ext cx="27523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4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“Exact gaps pinpoint krke</a:t>
            </a:r>
            <a:endParaRPr lang="en-US" sz="184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184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roadmap bnadiya...”</a:t>
            </a:r>
            <a:endParaRPr lang="en-US" sz="1840" dirty="0"/>
          </a:p>
        </p:txBody>
      </p:sp>
      <p:sp>
        <p:nvSpPr>
          <p:cNvPr id="37" name="Text 34"/>
          <p:cNvSpPr/>
          <p:nvPr/>
        </p:nvSpPr>
        <p:spPr>
          <a:xfrm>
            <a:off x="4654296" y="354787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value was not the score — it was knowing exactly what to do next.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654296" y="4270248"/>
            <a:ext cx="7772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PROOF</a:t>
            </a:r>
            <a:endParaRPr lang="en-US" sz="710" dirty="0"/>
          </a:p>
        </p:txBody>
      </p:sp>
      <p:sp>
        <p:nvSpPr>
          <p:cNvPr id="39" name="Shape 36"/>
          <p:cNvSpPr/>
          <p:nvPr/>
        </p:nvSpPr>
        <p:spPr>
          <a:xfrm>
            <a:off x="4617720" y="4480560"/>
            <a:ext cx="2788920" cy="1179576"/>
          </a:xfrm>
          <a:prstGeom prst="roundRect">
            <a:avLst>
              <a:gd name="adj" fmla="val 6202"/>
            </a:avLst>
          </a:prstGeom>
          <a:solidFill>
            <a:srgbClr val="1C1F24"/>
          </a:solidFill>
          <a:ln w="10160">
            <a:solidFill>
              <a:srgbClr val="4DD8E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0" name="Image 1" descr="/mnt/data/e27edd34-1e6b-433d-9ad2-597af68e3171.png"/>
          <p:cNvPicPr>
            <a:picLocks noChangeAspect="1"/>
          </p:cNvPicPr>
          <p:nvPr/>
        </p:nvPicPr>
        <p:blipFill>
          <a:blip r:embed="rId4"/>
          <a:srcRect l="3000" t="53000" r="61670" b="27000"/>
          <a:stretch/>
        </p:blipFill>
        <p:spPr>
          <a:xfrm>
            <a:off x="4636008" y="4498848"/>
            <a:ext cx="2752344" cy="1143000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>
            <a:off x="4636008" y="5760720"/>
            <a:ext cx="2752344" cy="54864"/>
          </a:xfrm>
          <a:prstGeom prst="roundRect">
            <a:avLst>
              <a:gd name="adj" fmla="val 33333"/>
            </a:avLst>
          </a:prstGeom>
          <a:solidFill>
            <a:srgbClr val="4DD8E6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38"/>
          <p:cNvSpPr/>
          <p:nvPr/>
        </p:nvSpPr>
        <p:spPr>
          <a:xfrm>
            <a:off x="8083296" y="1545336"/>
            <a:ext cx="3319272" cy="4507992"/>
          </a:xfrm>
          <a:prstGeom prst="roundRect">
            <a:avLst>
              <a:gd name="adj" fmla="val 2755"/>
            </a:avLst>
          </a:prstGeom>
          <a:solidFill>
            <a:srgbClr val="E0A340">
              <a:alpha val="3000"/>
            </a:srgbClr>
          </a:solidFill>
          <a:ln w="13970">
            <a:solidFill>
              <a:srgbClr val="E0A340">
                <a:alpha val="4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39"/>
          <p:cNvSpPr/>
          <p:nvPr/>
        </p:nvSpPr>
        <p:spPr>
          <a:xfrm>
            <a:off x="8119872" y="1581912"/>
            <a:ext cx="3246120" cy="4425696"/>
          </a:xfrm>
          <a:prstGeom prst="roundRect">
            <a:avLst>
              <a:gd name="adj" fmla="val 2254"/>
            </a:avLst>
          </a:prstGeom>
          <a:solidFill>
            <a:srgbClr val="141619">
              <a:alpha val="95000"/>
            </a:srgbClr>
          </a:solidFill>
          <a:ln w="11430">
            <a:solidFill>
              <a:srgbClr val="E0A3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0"/>
          <p:cNvSpPr/>
          <p:nvPr/>
        </p:nvSpPr>
        <p:spPr>
          <a:xfrm>
            <a:off x="8348472" y="1865376"/>
            <a:ext cx="283464" cy="283464"/>
          </a:xfrm>
          <a:prstGeom prst="ellipse">
            <a:avLst/>
          </a:prstGeom>
          <a:solidFill>
            <a:srgbClr val="E0A340">
              <a:alpha val="14000"/>
            </a:srgbClr>
          </a:solidFill>
          <a:ln w="10160">
            <a:solidFill>
              <a:srgbClr val="E0A3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1"/>
          <p:cNvSpPr/>
          <p:nvPr/>
        </p:nvSpPr>
        <p:spPr>
          <a:xfrm>
            <a:off x="8403336" y="1828800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E0A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2400" dirty="0"/>
          </a:p>
        </p:txBody>
      </p:sp>
      <p:sp>
        <p:nvSpPr>
          <p:cNvPr id="46" name="Text 42"/>
          <p:cNvSpPr/>
          <p:nvPr/>
        </p:nvSpPr>
        <p:spPr>
          <a:xfrm>
            <a:off x="8778240" y="1920240"/>
            <a:ext cx="16642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E0A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FRICTION</a:t>
            </a:r>
            <a:endParaRPr lang="en-US" sz="760" dirty="0"/>
          </a:p>
        </p:txBody>
      </p:sp>
      <p:sp>
        <p:nvSpPr>
          <p:cNvPr id="47" name="Shape 43"/>
          <p:cNvSpPr/>
          <p:nvPr/>
        </p:nvSpPr>
        <p:spPr>
          <a:xfrm>
            <a:off x="10177272" y="1847088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1C1F24"/>
          </a:solidFill>
          <a:ln w="10160">
            <a:solidFill>
              <a:srgbClr val="E0A3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4"/>
          <p:cNvSpPr/>
          <p:nvPr/>
        </p:nvSpPr>
        <p:spPr>
          <a:xfrm>
            <a:off x="10232136" y="1938528"/>
            <a:ext cx="850392" cy="50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0" b="1" dirty="0">
                <a:solidFill>
                  <a:srgbClr val="E0A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· CORE</a:t>
            </a:r>
            <a:endParaRPr lang="en-US" sz="670" dirty="0"/>
          </a:p>
        </p:txBody>
      </p:sp>
      <p:sp>
        <p:nvSpPr>
          <p:cNvPr id="49" name="Text 45"/>
          <p:cNvSpPr/>
          <p:nvPr/>
        </p:nvSpPr>
        <p:spPr>
          <a:xfrm>
            <a:off x="8366760" y="2359152"/>
            <a:ext cx="27523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4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“YouTube ingestion</a:t>
            </a:r>
            <a:endParaRPr lang="en-US" sz="204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204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kinda slow.”</a:t>
            </a:r>
            <a:endParaRPr lang="en-US" sz="2040" dirty="0"/>
          </a:p>
        </p:txBody>
      </p:sp>
      <p:sp>
        <p:nvSpPr>
          <p:cNvPr id="50" name="Text 46"/>
          <p:cNvSpPr/>
          <p:nvPr/>
        </p:nvSpPr>
        <p:spPr>
          <a:xfrm>
            <a:off x="8385048" y="354787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keep the criticism visible because real feedback is more credible than perfect praise.</a:t>
            </a:r>
            <a:endParaRPr lang="en-US" sz="1050" dirty="0"/>
          </a:p>
        </p:txBody>
      </p:sp>
      <p:sp>
        <p:nvSpPr>
          <p:cNvPr id="51" name="Text 47"/>
          <p:cNvSpPr/>
          <p:nvPr/>
        </p:nvSpPr>
        <p:spPr>
          <a:xfrm>
            <a:off x="8385048" y="4270248"/>
            <a:ext cx="7772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PROOF</a:t>
            </a:r>
            <a:endParaRPr lang="en-US" sz="710" dirty="0"/>
          </a:p>
        </p:txBody>
      </p:sp>
      <p:sp>
        <p:nvSpPr>
          <p:cNvPr id="52" name="Shape 48"/>
          <p:cNvSpPr/>
          <p:nvPr/>
        </p:nvSpPr>
        <p:spPr>
          <a:xfrm>
            <a:off x="8348472" y="4480560"/>
            <a:ext cx="2788920" cy="1179576"/>
          </a:xfrm>
          <a:prstGeom prst="roundRect">
            <a:avLst>
              <a:gd name="adj" fmla="val 6202"/>
            </a:avLst>
          </a:prstGeom>
          <a:solidFill>
            <a:srgbClr val="1C1F24"/>
          </a:solidFill>
          <a:ln w="10160">
            <a:solidFill>
              <a:srgbClr val="E0A34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3" name="Image 2" descr="/mnt/data/8104018a-899e-453b-81f8-0c1680340883.png"/>
          <p:cNvPicPr>
            <a:picLocks noChangeAspect="1"/>
          </p:cNvPicPr>
          <p:nvPr/>
        </p:nvPicPr>
        <p:blipFill>
          <a:blip r:embed="rId5"/>
          <a:srcRect l="2000" t="57000" r="75559" b="27000"/>
          <a:stretch/>
        </p:blipFill>
        <p:spPr>
          <a:xfrm>
            <a:off x="8366760" y="4498848"/>
            <a:ext cx="2752344" cy="1143000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8366760" y="5760720"/>
            <a:ext cx="2752344" cy="54864"/>
          </a:xfrm>
          <a:prstGeom prst="roundRect">
            <a:avLst>
              <a:gd name="adj" fmla="val 33333"/>
            </a:avLst>
          </a:prstGeom>
          <a:solidFill>
            <a:srgbClr val="E0A340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0"/>
          <p:cNvSpPr/>
          <p:nvPr/>
        </p:nvSpPr>
        <p:spPr>
          <a:xfrm>
            <a:off x="1956816" y="6291072"/>
            <a:ext cx="8275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reactions. One repeated value chain:  GAP → ROADMAP → RESOURCES</a:t>
            </a:r>
            <a:endParaRPr lang="en-US" sz="113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 w="12700">
            <a:solidFill>
              <a:srgbClr val="0A0B0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402568" y="64556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9189720" y="731520"/>
            <a:ext cx="1783080" cy="1783080"/>
          </a:xfrm>
          <a:prstGeom prst="ellipse">
            <a:avLst/>
          </a:prstGeom>
          <a:solidFill>
            <a:srgbClr val="2FE6A6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16568" y="658368"/>
            <a:ext cx="1929384" cy="1929384"/>
          </a:xfrm>
          <a:prstGeom prst="ellipse">
            <a:avLst/>
          </a:prstGeom>
          <a:solidFill>
            <a:srgbClr val="2FE6A6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043416" y="585216"/>
            <a:ext cx="2075688" cy="2075688"/>
          </a:xfrm>
          <a:prstGeom prst="ellipse">
            <a:avLst/>
          </a:prstGeom>
          <a:solidFill>
            <a:srgbClr val="2FE6A6">
              <a:alpha val="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970264" y="512064"/>
            <a:ext cx="2221992" cy="2221992"/>
          </a:xfrm>
          <a:prstGeom prst="ellipse">
            <a:avLst/>
          </a:prstGeom>
          <a:solidFill>
            <a:srgbClr val="2FE6A6">
              <a:alpha val="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One User Costs Us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58368" y="10515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where possible. Modelled only where necessary.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174736" y="530352"/>
            <a:ext cx="2852928" cy="347472"/>
          </a:xfrm>
          <a:prstGeom prst="roundRect">
            <a:avLst>
              <a:gd name="adj" fmla="val 21053"/>
            </a:avLst>
          </a:prstGeom>
          <a:solidFill>
            <a:srgbClr val="1C1F24"/>
          </a:solidFill>
          <a:ln w="11430">
            <a:solidFill>
              <a:srgbClr val="4DD8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385048" y="658368"/>
            <a:ext cx="2432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70" b="1" dirty="0">
                <a:solidFill>
                  <a:srgbClr val="4DD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112 DB EVENTS · AUG 14–20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662940" y="1545336"/>
            <a:ext cx="3310128" cy="1956816"/>
          </a:xfrm>
          <a:prstGeom prst="roundRect">
            <a:avLst>
              <a:gd name="adj" fmla="val 4673"/>
            </a:avLst>
          </a:prstGeom>
          <a:solidFill>
            <a:srgbClr val="8B7DF0">
              <a:alpha val="3000"/>
            </a:srgbClr>
          </a:solidFill>
          <a:ln w="13335">
            <a:solidFill>
              <a:srgbClr val="8B7DF0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94944" y="1581912"/>
            <a:ext cx="3246120" cy="1883664"/>
          </a:xfrm>
          <a:prstGeom prst="roundRect">
            <a:avLst>
              <a:gd name="adj" fmla="val 3883"/>
            </a:avLst>
          </a:prstGeom>
          <a:solidFill>
            <a:srgbClr val="141619">
              <a:alpha val="96000"/>
            </a:srgbClr>
          </a:solidFill>
          <a:ln w="15875">
            <a:solidFill>
              <a:srgbClr val="8B7D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23544" y="1819656"/>
            <a:ext cx="1417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70" b="1" dirty="0">
                <a:solidFill>
                  <a:srgbClr val="8B7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COST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923544" y="2103120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Intelligence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923544" y="24323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8B7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₹4.96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923544" y="2953512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/ operation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2203704" y="2953512"/>
            <a:ext cx="1499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measured events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73652" y="1545336"/>
            <a:ext cx="3310128" cy="1956816"/>
          </a:xfrm>
          <a:prstGeom prst="roundRect">
            <a:avLst>
              <a:gd name="adj" fmla="val 4673"/>
            </a:avLst>
          </a:prstGeom>
          <a:solidFill>
            <a:srgbClr val="2FE6A6">
              <a:alpha val="3000"/>
            </a:srgbClr>
          </a:solidFill>
          <a:ln w="13335">
            <a:solidFill>
              <a:srgbClr val="2FE6A6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105656" y="1581912"/>
            <a:ext cx="3246120" cy="1883664"/>
          </a:xfrm>
          <a:prstGeom prst="roundRect">
            <a:avLst>
              <a:gd name="adj" fmla="val 3883"/>
            </a:avLst>
          </a:prstGeom>
          <a:solidFill>
            <a:srgbClr val="141619">
              <a:alpha val="96000"/>
            </a:srgbClr>
          </a:solidFill>
          <a:ln w="11430">
            <a:solidFill>
              <a:srgbClr val="2FE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334256" y="1819656"/>
            <a:ext cx="1417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70" b="1" dirty="0">
                <a:solidFill>
                  <a:srgbClr val="2FE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WORKFLOW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4334256" y="2103120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Action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4334256" y="24323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2FE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₹3.28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4334256" y="2953512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/ action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5614416" y="2953512"/>
            <a:ext cx="1499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measured events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484364" y="1545336"/>
            <a:ext cx="3310128" cy="1956816"/>
          </a:xfrm>
          <a:prstGeom prst="roundRect">
            <a:avLst>
              <a:gd name="adj" fmla="val 4673"/>
            </a:avLst>
          </a:prstGeom>
          <a:solidFill>
            <a:srgbClr val="4DD8E6">
              <a:alpha val="3000"/>
            </a:srgbClr>
          </a:solidFill>
          <a:ln w="13335">
            <a:solidFill>
              <a:srgbClr val="4DD8E6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7516368" y="1581912"/>
            <a:ext cx="3246120" cy="1883664"/>
          </a:xfrm>
          <a:prstGeom prst="roundRect">
            <a:avLst>
              <a:gd name="adj" fmla="val 3883"/>
            </a:avLst>
          </a:prstGeom>
          <a:solidFill>
            <a:srgbClr val="141619">
              <a:alpha val="96000"/>
            </a:srgbClr>
          </a:solidFill>
          <a:ln w="11430">
            <a:solidFill>
              <a:srgbClr val="4DD8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744968" y="1819656"/>
            <a:ext cx="1417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70" b="1" dirty="0">
                <a:solidFill>
                  <a:srgbClr val="4DD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 RANGE</a:t>
            </a:r>
            <a:endParaRPr lang="en-US" sz="770" dirty="0"/>
          </a:p>
        </p:txBody>
      </p:sp>
      <p:sp>
        <p:nvSpPr>
          <p:cNvPr id="29" name="Text 27"/>
          <p:cNvSpPr/>
          <p:nvPr/>
        </p:nvSpPr>
        <p:spPr>
          <a:xfrm>
            <a:off x="7744968" y="2103120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1340" dirty="0"/>
          </a:p>
        </p:txBody>
      </p:sp>
      <p:sp>
        <p:nvSpPr>
          <p:cNvPr id="30" name="Text 28"/>
          <p:cNvSpPr/>
          <p:nvPr/>
        </p:nvSpPr>
        <p:spPr>
          <a:xfrm>
            <a:off x="7744968" y="24323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4DD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₹2.23–₹6.25</a:t>
            </a:r>
            <a:endParaRPr lang="en-US" sz="2900" dirty="0"/>
          </a:p>
        </p:txBody>
      </p:sp>
      <p:sp>
        <p:nvSpPr>
          <p:cNvPr id="31" name="Text 29"/>
          <p:cNvSpPr/>
          <p:nvPr/>
        </p:nvSpPr>
        <p:spPr>
          <a:xfrm>
            <a:off x="7744968" y="2953512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p50 → p90 / chat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9025128" y="2953512"/>
            <a:ext cx="1499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 measured events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94944" y="3776472"/>
            <a:ext cx="7059168" cy="1956816"/>
          </a:xfrm>
          <a:prstGeom prst="roundRect">
            <a:avLst>
              <a:gd name="adj" fmla="val 3738"/>
            </a:avLst>
          </a:prstGeom>
          <a:solidFill>
            <a:srgbClr val="141619"/>
          </a:solidFill>
          <a:ln w="11430">
            <a:solidFill>
              <a:srgbClr val="2A2E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941832" y="4041648"/>
            <a:ext cx="20574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MICRO-COST OPERATIONS</a:t>
            </a:r>
            <a:endParaRPr lang="en-US" sz="810" dirty="0"/>
          </a:p>
        </p:txBody>
      </p:sp>
      <p:sp>
        <p:nvSpPr>
          <p:cNvPr id="35" name="Text 33"/>
          <p:cNvSpPr/>
          <p:nvPr/>
        </p:nvSpPr>
        <p:spPr>
          <a:xfrm>
            <a:off x="950976" y="4489704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Path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816352" y="4517136"/>
            <a:ext cx="3255264" cy="155448"/>
          </a:xfrm>
          <a:prstGeom prst="roundRect">
            <a:avLst>
              <a:gd name="adj" fmla="val 17647"/>
            </a:avLst>
          </a:prstGeom>
          <a:solidFill>
            <a:srgbClr val="1C1F24"/>
          </a:solidFill>
          <a:ln w="5715">
            <a:solidFill>
              <a:srgbClr val="2A2E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2816352" y="4517136"/>
            <a:ext cx="531606" cy="155448"/>
          </a:xfrm>
          <a:prstGeom prst="roundRect">
            <a:avLst>
              <a:gd name="adj" fmla="val 17647"/>
            </a:avLst>
          </a:prstGeom>
          <a:solidFill>
            <a:srgbClr val="2FE6A6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6245352" y="448056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E6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₹0.81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236208" y="4718304"/>
            <a:ext cx="7863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80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/ plan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950976" y="5065776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/ text ingestion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816352" y="5093208"/>
            <a:ext cx="3255264" cy="155448"/>
          </a:xfrm>
          <a:prstGeom prst="roundRect">
            <a:avLst>
              <a:gd name="adj" fmla="val 17647"/>
            </a:avLst>
          </a:prstGeom>
          <a:solidFill>
            <a:srgbClr val="1C1F24"/>
          </a:solidFill>
          <a:ln w="5715">
            <a:solidFill>
              <a:srgbClr val="2A2E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2816352" y="5093208"/>
            <a:ext cx="118872" cy="155448"/>
          </a:xfrm>
          <a:prstGeom prst="roundRect">
            <a:avLst>
              <a:gd name="adj" fmla="val 23077"/>
            </a:avLst>
          </a:prstGeom>
          <a:solidFill>
            <a:srgbClr val="4DD8E6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245352" y="505663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4DD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₹0.01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236208" y="5294376"/>
            <a:ext cx="7863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80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embedding-only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950976" y="5486400"/>
            <a:ext cx="14630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 / completed operation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028432" y="3776472"/>
            <a:ext cx="3456432" cy="1956816"/>
          </a:xfrm>
          <a:prstGeom prst="roundRect">
            <a:avLst>
              <a:gd name="adj" fmla="val 4673"/>
            </a:avLst>
          </a:prstGeom>
          <a:solidFill>
            <a:srgbClr val="E0A340">
              <a:alpha val="6000"/>
            </a:srgbClr>
          </a:solidFill>
          <a:ln w="14605">
            <a:solidFill>
              <a:srgbClr val="E0A3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8284464" y="4041648"/>
            <a:ext cx="1207008" cy="256032"/>
          </a:xfrm>
          <a:prstGeom prst="roundRect">
            <a:avLst>
              <a:gd name="adj" fmla="val 28571"/>
            </a:avLst>
          </a:prstGeom>
          <a:solidFill>
            <a:srgbClr val="1C1F24"/>
          </a:solidFill>
          <a:ln w="10160">
            <a:solidFill>
              <a:srgbClr val="E0A3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8357616" y="4133088"/>
            <a:ext cx="1060704" cy="50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E0A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KNOWN COST GAP</a:t>
            </a:r>
            <a:endParaRPr lang="en-US" sz="680" dirty="0"/>
          </a:p>
        </p:txBody>
      </p:sp>
      <p:sp>
        <p:nvSpPr>
          <p:cNvPr id="49" name="Text 47"/>
          <p:cNvSpPr/>
          <p:nvPr/>
        </p:nvSpPr>
        <p:spPr>
          <a:xfrm>
            <a:off x="8302752" y="4507992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50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video</a:t>
            </a:r>
            <a:endParaRPr lang="en-US" sz="25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250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</a:t>
            </a:r>
            <a:endParaRPr lang="en-US" sz="2500" dirty="0"/>
          </a:p>
        </p:txBody>
      </p:sp>
      <p:sp>
        <p:nvSpPr>
          <p:cNvPr id="50" name="Text 48"/>
          <p:cNvSpPr/>
          <p:nvPr/>
        </p:nvSpPr>
        <p:spPr>
          <a:xfrm>
            <a:off x="8302752" y="5202936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2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YouTube duration is measured; full provider token cost is not yet captured.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749808" y="6153912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4DD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1572768" y="6126480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values come from production UsageEvent data</a:t>
            </a:r>
            <a:endParaRPr lang="en-US" sz="930" dirty="0"/>
          </a:p>
        </p:txBody>
      </p:sp>
      <p:sp>
        <p:nvSpPr>
          <p:cNvPr id="53" name="Text 51"/>
          <p:cNvSpPr/>
          <p:nvPr/>
        </p:nvSpPr>
        <p:spPr>
          <a:xfrm>
            <a:off x="8321040" y="6153912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E0A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UNKNOWN ≠ ZERO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9573768" y="6126480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surface the blind spot instead of hiding it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93192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3F6FB"/>
                </a:solidFill>
                <a:latin typeface="Aptos"/>
              </a:rPr>
              <a:t>How Lumora earns.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74980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AAB5C8"/>
                </a:solidFill>
                <a:latin typeface="Aptos"/>
              </a:rPr>
              <a:t>A conservative model: assumptions visible, outputs derived, no hockey-stick theatre.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08176"/>
            <a:ext cx="3474720" cy="4462272"/>
          </a:xfrm>
          <a:prstGeom prst="roundRect">
            <a:avLst>
              <a:gd name="adj" fmla="val 14000"/>
            </a:avLst>
          </a:prstGeom>
          <a:solidFill>
            <a:srgbClr val="0E1928"/>
          </a:solidFill>
          <a:ln w="1270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737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809A"/>
                </a:solidFill>
                <a:latin typeface="Aptos"/>
              </a:rPr>
              <a:t>INPUT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12264"/>
            <a:ext cx="18745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AAB5C8"/>
                </a:solidFill>
                <a:latin typeface="Aptos"/>
              </a:rPr>
              <a:t>Signups / 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2084832"/>
            <a:ext cx="841248" cy="283464"/>
          </a:xfrm>
          <a:prstGeom prst="roundRect">
            <a:avLst>
              <a:gd name="adj" fmla="val 14000"/>
            </a:avLst>
          </a:prstGeom>
          <a:solidFill>
            <a:srgbClr val="121E2F"/>
          </a:solidFill>
          <a:ln w="13335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98648" y="2121408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60" b="1">
                <a:solidFill>
                  <a:srgbClr val="F3F6FB"/>
                </a:solidFill>
                <a:latin typeface="Aptos"/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18745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AAB5C8"/>
                </a:solidFill>
                <a:latin typeface="Aptos"/>
              </a:rPr>
              <a:t>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2514600"/>
            <a:ext cx="841248" cy="283464"/>
          </a:xfrm>
          <a:prstGeom prst="roundRect">
            <a:avLst>
              <a:gd name="adj" fmla="val 14000"/>
            </a:avLst>
          </a:prstGeom>
          <a:solidFill>
            <a:srgbClr val="121E2F"/>
          </a:solidFill>
          <a:ln w="13335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98648" y="2551176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60" b="1">
                <a:solidFill>
                  <a:srgbClr val="F3F6FB"/>
                </a:solidFill>
                <a:latin typeface="Aptos"/>
              </a:rPr>
              <a:t>12%
MoM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18745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AAB5C8"/>
                </a:solidFill>
                <a:latin typeface="Aptos"/>
              </a:rPr>
              <a:t>Activation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8648" y="2944368"/>
            <a:ext cx="841248" cy="283464"/>
          </a:xfrm>
          <a:prstGeom prst="roundRect">
            <a:avLst>
              <a:gd name="adj" fmla="val 14000"/>
            </a:avLst>
          </a:prstGeom>
          <a:solidFill>
            <a:srgbClr val="121E2F"/>
          </a:solidFill>
          <a:ln w="13335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98648" y="2980944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60" b="1">
                <a:solidFill>
                  <a:srgbClr val="F3F6FB"/>
                </a:solidFill>
                <a:latin typeface="Aptos"/>
              </a:rPr>
              <a:t>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8"/>
            <a:ext cx="18745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AAB5C8"/>
                </a:solidFill>
                <a:latin typeface="Aptos"/>
              </a:rPr>
              <a:t>Free → paid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8648" y="3374136"/>
            <a:ext cx="841248" cy="283464"/>
          </a:xfrm>
          <a:prstGeom prst="roundRect">
            <a:avLst>
              <a:gd name="adj" fmla="val 14000"/>
            </a:avLst>
          </a:prstGeom>
          <a:solidFill>
            <a:srgbClr val="121E2F"/>
          </a:solidFill>
          <a:ln w="13335">
            <a:solidFill>
              <a:srgbClr val="2B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98648" y="3410712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60" b="1">
                <a:solidFill>
                  <a:srgbClr val="A8F5FF"/>
                </a:solidFill>
                <a:latin typeface="Aptos"/>
              </a:rPr>
              <a:t>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31336"/>
            <a:ext cx="18745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AAB5C8"/>
                </a:solidFill>
                <a:latin typeface="Aptos"/>
              </a:rPr>
              <a:t>Churn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98648" y="3803904"/>
            <a:ext cx="841248" cy="283464"/>
          </a:xfrm>
          <a:prstGeom prst="roundRect">
            <a:avLst>
              <a:gd name="adj" fmla="val 14000"/>
            </a:avLst>
          </a:prstGeom>
          <a:solidFill>
            <a:srgbClr val="121E2F"/>
          </a:solidFill>
          <a:ln w="13335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98648" y="3840480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60" b="1">
                <a:solidFill>
                  <a:srgbClr val="F3F6FB"/>
                </a:solidFill>
                <a:latin typeface="Aptos"/>
              </a:rPr>
              <a:t>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61104"/>
            <a:ext cx="18745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AAB5C8"/>
                </a:solidFill>
                <a:latin typeface="Aptos"/>
              </a:rPr>
              <a:t>Core:Max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98648" y="4233672"/>
            <a:ext cx="841248" cy="283464"/>
          </a:xfrm>
          <a:prstGeom prst="roundRect">
            <a:avLst>
              <a:gd name="adj" fmla="val 14000"/>
            </a:avLst>
          </a:prstGeom>
          <a:solidFill>
            <a:srgbClr val="121E2F"/>
          </a:solidFill>
          <a:ln w="13335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98648" y="4270248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60" b="1">
                <a:solidFill>
                  <a:srgbClr val="F3F6FB"/>
                </a:solidFill>
                <a:latin typeface="Aptos"/>
              </a:rPr>
              <a:t>85:15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35424" y="2212848"/>
            <a:ext cx="2926080" cy="1627632"/>
          </a:xfrm>
          <a:prstGeom prst="roundRect">
            <a:avLst>
              <a:gd name="adj" fmla="val 14000"/>
            </a:avLst>
          </a:prstGeom>
          <a:solidFill>
            <a:srgbClr val="151E2C"/>
          </a:solidFill>
          <a:ln w="18415">
            <a:solidFill>
              <a:srgbClr val="2B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35424" y="2377440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2BE4FF"/>
                </a:solidFill>
                <a:latin typeface="Aptos"/>
              </a:rPr>
              <a:t>SUBSCRIPTION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2724912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F3F6FB"/>
                </a:solidFill>
                <a:latin typeface="Aptos"/>
              </a:rPr>
              <a:t>Free → Core → Max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47488" y="3218688"/>
            <a:ext cx="1901952" cy="0"/>
          </a:xfrm>
          <a:prstGeom prst="line">
            <a:avLst/>
          </a:prstGeom>
          <a:ln w="12065">
            <a:solidFill>
              <a:srgbClr val="2A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681728" y="3328416"/>
            <a:ext cx="2633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AAB5C8"/>
                </a:solidFill>
                <a:latin typeface="Aptos"/>
              </a:rPr>
              <a:t>capacity creates upgrade pressure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187952" y="3026664"/>
            <a:ext cx="237744" cy="0"/>
          </a:xfrm>
          <a:prstGeom prst="line">
            <a:avLst/>
          </a:prstGeom>
          <a:ln w="20320">
            <a:solidFill>
              <a:srgbClr val="334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389120" y="2889504"/>
            <a:ext cx="1280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334055"/>
                </a:solidFill>
                <a:latin typeface="Aptos"/>
              </a:rPr>
              <a:t>›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79792" y="3026664"/>
            <a:ext cx="384048" cy="0"/>
          </a:xfrm>
          <a:prstGeom prst="line">
            <a:avLst/>
          </a:prstGeom>
          <a:ln w="20320">
            <a:solidFill>
              <a:srgbClr val="2BE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818120" y="2889504"/>
            <a:ext cx="1280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BE4FF"/>
                </a:solidFill>
                <a:latin typeface="Aptos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1408176"/>
            <a:ext cx="3730752" cy="4462272"/>
          </a:xfrm>
          <a:prstGeom prst="roundRect">
            <a:avLst>
              <a:gd name="adj" fmla="val 14000"/>
            </a:avLst>
          </a:prstGeom>
          <a:solidFill>
            <a:srgbClr val="0E1928"/>
          </a:solidFill>
          <a:ln w="1270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66176" y="1645920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809A"/>
                </a:solidFill>
                <a:latin typeface="Aptos"/>
              </a:rPr>
              <a:t>OUTPUTS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39328" y="1975104"/>
            <a:ext cx="2871216" cy="768096"/>
          </a:xfrm>
          <a:prstGeom prst="roundRect">
            <a:avLst>
              <a:gd name="adj" fmla="val 14000"/>
            </a:avLst>
          </a:prstGeom>
          <a:solidFill>
            <a:srgbClr val="131A26"/>
          </a:solidFill>
          <a:ln w="1270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85632" y="2084832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73809A"/>
                </a:solidFill>
                <a:latin typeface="Aptos"/>
              </a:rPr>
              <a:t>6 MONTHS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36608" y="2084832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AAB5C8"/>
                </a:solidFill>
                <a:latin typeface="Aptos"/>
              </a:rPr>
              <a:t>365 MAU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04704" y="2084832"/>
            <a:ext cx="5943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80" b="0">
                <a:solidFill>
                  <a:srgbClr val="AAB5C8"/>
                </a:solidFill>
                <a:latin typeface="Aptos"/>
              </a:rPr>
              <a:t>25 paid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5632" y="233172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BE4FF"/>
                </a:solidFill>
                <a:latin typeface="Aptos"/>
              </a:rPr>
              <a:t>₹16K MRR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39328" y="3017519"/>
            <a:ext cx="2871216" cy="768096"/>
          </a:xfrm>
          <a:prstGeom prst="roundRect">
            <a:avLst>
              <a:gd name="adj" fmla="val 14000"/>
            </a:avLst>
          </a:prstGeom>
          <a:solidFill>
            <a:srgbClr val="131A26"/>
          </a:solidFill>
          <a:ln w="1270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85632" y="3127247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73809A"/>
                </a:solidFill>
                <a:latin typeface="Aptos"/>
              </a:rPr>
              <a:t>YEAR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36608" y="3127247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AAB5C8"/>
                </a:solidFill>
                <a:latin typeface="Aptos"/>
              </a:rPr>
              <a:t>1,086 MAU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04704" y="3127247"/>
            <a:ext cx="5943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80" b="0">
                <a:solidFill>
                  <a:srgbClr val="AAB5C8"/>
                </a:solidFill>
                <a:latin typeface="Aptos"/>
              </a:rPr>
              <a:t>64 paid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85632" y="3374135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BE4FF"/>
                </a:solidFill>
                <a:latin typeface="Aptos"/>
              </a:rPr>
              <a:t>₹41K MRR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39328" y="4059934"/>
            <a:ext cx="2871216" cy="768096"/>
          </a:xfrm>
          <a:prstGeom prst="roundRect">
            <a:avLst>
              <a:gd name="adj" fmla="val 14000"/>
            </a:avLst>
          </a:prstGeom>
          <a:solidFill>
            <a:srgbClr val="172431"/>
          </a:solidFill>
          <a:ln w="15240">
            <a:solidFill>
              <a:srgbClr val="2B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85632" y="4169662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73809A"/>
                </a:solidFill>
                <a:latin typeface="Aptos"/>
              </a:rPr>
              <a:t>YEAR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36608" y="4169662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AAB5C8"/>
                </a:solidFill>
                <a:latin typeface="Aptos"/>
              </a:rPr>
              <a:t>5,317 MAU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04704" y="4169662"/>
            <a:ext cx="5943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80" b="0">
                <a:solidFill>
                  <a:srgbClr val="AAB5C8"/>
                </a:solidFill>
                <a:latin typeface="Aptos"/>
              </a:rPr>
              <a:t>271 paid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441655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2BE4FF"/>
                </a:solidFill>
                <a:latin typeface="Aptos"/>
              </a:rPr>
              <a:t>₹1.76L MRR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" y="6126480"/>
            <a:ext cx="3246120" cy="502920"/>
          </a:xfrm>
          <a:prstGeom prst="roundRect">
            <a:avLst>
              <a:gd name="adj" fmla="val 14000"/>
            </a:avLst>
          </a:prstGeom>
          <a:solidFill>
            <a:srgbClr val="141C29"/>
          </a:solidFill>
          <a:ln w="1524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24128" y="6217920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>
                <a:solidFill>
                  <a:srgbClr val="73809A"/>
                </a:solidFill>
                <a:latin typeface="Aptos"/>
              </a:rPr>
              <a:t>INITIAL
INVESTMENT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12264" y="622706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80" b="0">
                <a:solidFill>
                  <a:srgbClr val="F3F6FB"/>
                </a:solidFill>
                <a:latin typeface="Aptos"/>
              </a:rPr>
              <a:t>₹20K–₹30K runway + API
float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26280" y="6126480"/>
            <a:ext cx="3246120" cy="502920"/>
          </a:xfrm>
          <a:prstGeom prst="roundRect">
            <a:avLst>
              <a:gd name="adj" fmla="val 14000"/>
            </a:avLst>
          </a:prstGeom>
          <a:solidFill>
            <a:srgbClr val="142330"/>
          </a:solidFill>
          <a:ln w="15240">
            <a:solidFill>
              <a:srgbClr val="2B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681728" y="6217920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>
                <a:solidFill>
                  <a:srgbClr val="2BE4FF"/>
                </a:solidFill>
                <a:latin typeface="Aptos"/>
              </a:rPr>
              <a:t>EARLY GROSS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9864" y="622706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80" b="1">
                <a:solidFill>
                  <a:srgbClr val="F3F6FB"/>
                </a:solidFill>
                <a:latin typeface="Aptos"/>
              </a:rPr>
              <a:t>₹2.25K gross · 4 paid users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93024" y="6126480"/>
            <a:ext cx="3246120" cy="502920"/>
          </a:xfrm>
          <a:prstGeom prst="roundRect">
            <a:avLst>
              <a:gd name="adj" fmla="val 14000"/>
            </a:avLst>
          </a:prstGeom>
          <a:solidFill>
            <a:srgbClr val="181B22"/>
          </a:solidFill>
          <a:ln w="1524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48472" y="6217920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>
                <a:solidFill>
                  <a:srgbClr val="FFB020"/>
                </a:solidFill>
                <a:latin typeface="Aptos"/>
              </a:rPr>
              <a:t>COST REDUCTION
NEXT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36608" y="622706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80" b="0">
                <a:solidFill>
                  <a:srgbClr val="F3F6FB"/>
                </a:solidFill>
                <a:latin typeface="Aptos"/>
              </a:rPr>
              <a:t>routing · caching · dedupe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77639" y="6702552"/>
            <a:ext cx="4297680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" b="0">
                <a:solidFill>
                  <a:srgbClr val="73809A"/>
                </a:solidFill>
                <a:latin typeface="Aptos"/>
              </a:rPr>
              <a:t>We are not projecting 50% conversion from a sample of eight.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750040" y="6492240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3809A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577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7FAFC"/>
                </a:solidFill>
                <a:latin typeface="Aptos"/>
              </a:rPr>
              <a:t>The Limit That Comes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7589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B8C1D1"/>
                </a:solidFill>
                <a:latin typeface="Aptos"/>
              </a:rPr>
              <a:t>Usage does not hard reset. Capacity returns as old actions age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3364992" cy="4160520"/>
          </a:xfrm>
          <a:prstGeom prst="roundRect">
            <a:avLst>
              <a:gd name="adj" fmla="val 13000"/>
            </a:avLst>
          </a:prstGeom>
          <a:solidFill>
            <a:srgbClr val="121926"/>
          </a:solidFill>
          <a:ln w="15240">
            <a:solidFill>
              <a:srgbClr val="2B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886968" y="1545336"/>
            <a:ext cx="2907792" cy="0"/>
          </a:xfrm>
          <a:prstGeom prst="line">
            <a:avLst/>
          </a:prstGeom>
          <a:ln w="12700">
            <a:solidFill>
              <a:srgbClr val="2BE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1691640"/>
            <a:ext cx="749808" cy="256032"/>
          </a:xfrm>
          <a:prstGeom prst="roundRect">
            <a:avLst>
              <a:gd name="adj" fmla="val 35000"/>
            </a:avLst>
          </a:prstGeom>
          <a:solidFill>
            <a:srgbClr val="0F1724"/>
          </a:solidFill>
          <a:ln w="14604">
            <a:solidFill>
              <a:srgbClr val="2B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>
                <a:solidFill>
                  <a:srgbClr val="2BE4FF"/>
                </a:solidFill>
                <a:latin typeface="Aptos"/>
              </a:rPr>
              <a:t>STEP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417320"/>
            <a:ext cx="3364992" cy="4160520"/>
          </a:xfrm>
          <a:prstGeom prst="roundRect">
            <a:avLst>
              <a:gd name="adj" fmla="val 13000"/>
            </a:avLst>
          </a:prstGeom>
          <a:solidFill>
            <a:srgbClr val="121926"/>
          </a:solidFill>
          <a:ln w="15240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4507992" y="1545336"/>
            <a:ext cx="2907792" cy="0"/>
          </a:xfrm>
          <a:prstGeom prst="line">
            <a:avLst/>
          </a:prstGeom>
          <a:ln w="12700">
            <a:solidFill>
              <a:srgbClr val="64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35424" y="1691640"/>
            <a:ext cx="749808" cy="256032"/>
          </a:xfrm>
          <a:prstGeom prst="roundRect">
            <a:avLst>
              <a:gd name="adj" fmla="val 35000"/>
            </a:avLst>
          </a:prstGeom>
          <a:solidFill>
            <a:srgbClr val="0F1724"/>
          </a:solidFill>
          <a:ln w="14604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5424" y="1719072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>
                <a:solidFill>
                  <a:srgbClr val="64FFA0"/>
                </a:solidFill>
                <a:latin typeface="Aptos"/>
              </a:rPr>
              <a:t>STEP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0416" y="1417320"/>
            <a:ext cx="3364992" cy="4160520"/>
          </a:xfrm>
          <a:prstGeom prst="roundRect">
            <a:avLst>
              <a:gd name="adj" fmla="val 13000"/>
            </a:avLst>
          </a:prstGeom>
          <a:solidFill>
            <a:srgbClr val="121926"/>
          </a:solidFill>
          <a:ln w="1524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8129016" y="1545336"/>
            <a:ext cx="2907792" cy="0"/>
          </a:xfrm>
          <a:prstGeom prst="line">
            <a:avLst/>
          </a:prstGeom>
          <a:ln w="12700">
            <a:solidFill>
              <a:srgbClr val="FFB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56448" y="1691640"/>
            <a:ext cx="749808" cy="256032"/>
          </a:xfrm>
          <a:prstGeom prst="roundRect">
            <a:avLst>
              <a:gd name="adj" fmla="val 35000"/>
            </a:avLst>
          </a:prstGeom>
          <a:solidFill>
            <a:srgbClr val="0F1724"/>
          </a:solidFill>
          <a:ln w="14604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56448" y="1719072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>
                <a:solidFill>
                  <a:srgbClr val="FFB020"/>
                </a:solidFill>
                <a:latin typeface="Aptos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30552"/>
            <a:ext cx="2852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7FAFC"/>
                </a:solidFill>
                <a:latin typeface="Aptos"/>
              </a:rPr>
              <a:t>Active 12-hour window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496312"/>
            <a:ext cx="1993392" cy="310896"/>
          </a:xfrm>
          <a:prstGeom prst="roundRect">
            <a:avLst>
              <a:gd name="adj" fmla="val 35000"/>
            </a:avLst>
          </a:prstGeom>
          <a:solidFill>
            <a:srgbClr val="0C2430"/>
          </a:solidFill>
          <a:ln w="14604">
            <a:solidFill>
              <a:srgbClr val="2B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523744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BF3FF"/>
                </a:solidFill>
                <a:latin typeface="Aptos"/>
              </a:rPr>
              <a:t>NO MIDNIGHT / MONTHLY BULK RESET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8408" y="3749040"/>
            <a:ext cx="2724912" cy="0"/>
          </a:xfrm>
          <a:prstGeom prst="line">
            <a:avLst/>
          </a:prstGeom>
          <a:ln w="13970">
            <a:solidFill>
              <a:srgbClr val="39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591056" y="3538728"/>
            <a:ext cx="1700784" cy="420624"/>
          </a:xfrm>
          <a:prstGeom prst="roundRect">
            <a:avLst>
              <a:gd name="adj" fmla="val 28000"/>
            </a:avLst>
          </a:prstGeom>
          <a:solidFill>
            <a:srgbClr val="102934"/>
          </a:solidFill>
          <a:ln w="14604">
            <a:solidFill>
              <a:srgbClr val="2B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45920" y="3680460"/>
            <a:ext cx="159105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19" b="1">
                <a:solidFill>
                  <a:srgbClr val="9BF3FF"/>
                </a:solidFill>
                <a:latin typeface="Aptos"/>
              </a:rPr>
              <a:t>ACTIVE 12H</a:t>
            </a:r>
          </a:p>
        </p:txBody>
      </p:sp>
      <p:sp>
        <p:nvSpPr>
          <p:cNvPr id="22" name="Oval 21"/>
          <p:cNvSpPr/>
          <p:nvPr/>
        </p:nvSpPr>
        <p:spPr>
          <a:xfrm>
            <a:off x="1161288" y="3698748"/>
            <a:ext cx="100584" cy="100584"/>
          </a:xfrm>
          <a:prstGeom prst="ellipse">
            <a:avLst/>
          </a:prstGeom>
          <a:solidFill>
            <a:srgbClr val="7F8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" y="3931920"/>
            <a:ext cx="530352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" b="1">
                <a:solidFill>
                  <a:srgbClr val="7F8BA3"/>
                </a:solidFill>
                <a:latin typeface="Aptos"/>
              </a:rPr>
              <a:t>CHAT</a:t>
            </a:r>
          </a:p>
        </p:txBody>
      </p:sp>
      <p:sp>
        <p:nvSpPr>
          <p:cNvPr id="24" name="Oval 23"/>
          <p:cNvSpPr/>
          <p:nvPr/>
        </p:nvSpPr>
        <p:spPr>
          <a:xfrm>
            <a:off x="1892808" y="3698748"/>
            <a:ext cx="100584" cy="100584"/>
          </a:xfrm>
          <a:prstGeom prst="ellipse">
            <a:avLst/>
          </a:prstGeom>
          <a:solidFill>
            <a:srgbClr val="2B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36776" y="3931920"/>
            <a:ext cx="530352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" b="1">
                <a:solidFill>
                  <a:srgbClr val="2BE4FF"/>
                </a:solidFill>
                <a:latin typeface="Aptos"/>
              </a:rPr>
              <a:t>INGEST</a:t>
            </a:r>
          </a:p>
        </p:txBody>
      </p:sp>
      <p:sp>
        <p:nvSpPr>
          <p:cNvPr id="26" name="Oval 25"/>
          <p:cNvSpPr/>
          <p:nvPr/>
        </p:nvSpPr>
        <p:spPr>
          <a:xfrm>
            <a:off x="2898648" y="3698748"/>
            <a:ext cx="100584" cy="100584"/>
          </a:xfrm>
          <a:prstGeom prst="ellipse">
            <a:avLst/>
          </a:prstGeom>
          <a:solidFill>
            <a:srgbClr val="2B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42616" y="3931920"/>
            <a:ext cx="530352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" b="1">
                <a:solidFill>
                  <a:srgbClr val="2BE4FF"/>
                </a:solidFill>
                <a:latin typeface="Aptos"/>
              </a:rPr>
              <a:t>ACTION</a:t>
            </a:r>
          </a:p>
        </p:txBody>
      </p:sp>
      <p:sp>
        <p:nvSpPr>
          <p:cNvPr id="28" name="Oval 27"/>
          <p:cNvSpPr/>
          <p:nvPr/>
        </p:nvSpPr>
        <p:spPr>
          <a:xfrm>
            <a:off x="3493008" y="3698748"/>
            <a:ext cx="100584" cy="100584"/>
          </a:xfrm>
          <a:prstGeom prst="ellipse">
            <a:avLst/>
          </a:prstGeom>
          <a:solidFill>
            <a:srgbClr val="2B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36976" y="3931920"/>
            <a:ext cx="530352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" b="1">
                <a:solidFill>
                  <a:srgbClr val="2BE4FF"/>
                </a:solidFill>
                <a:latin typeface="Aptos"/>
              </a:rPr>
              <a:t>CHAT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" y="4727448"/>
            <a:ext cx="277977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B8C1D1"/>
                </a:solidFill>
                <a:latin typeface="Aptos"/>
              </a:rPr>
              <a:t>The window moves. Events leave one by one.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5424" y="2130552"/>
            <a:ext cx="2852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7FAFC"/>
                </a:solidFill>
                <a:latin typeface="Aptos"/>
              </a:rPr>
              <a:t>Capacity returns</a:t>
            </a:r>
          </a:p>
        </p:txBody>
      </p:sp>
      <p:sp>
        <p:nvSpPr>
          <p:cNvPr id="32" name="Oval 31"/>
          <p:cNvSpPr/>
          <p:nvPr/>
        </p:nvSpPr>
        <p:spPr>
          <a:xfrm>
            <a:off x="4873752" y="3017520"/>
            <a:ext cx="146304" cy="146304"/>
          </a:xfrm>
          <a:prstGeom prst="ellipse">
            <a:avLst/>
          </a:prstGeom>
          <a:solidFill>
            <a:srgbClr val="7F8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54296" y="3236976"/>
            <a:ext cx="5943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10" b="1">
                <a:solidFill>
                  <a:srgbClr val="7F8BA3"/>
                </a:solidFill>
                <a:latin typeface="Aptos"/>
              </a:rPr>
              <a:t>AGED OUT</a:t>
            </a:r>
          </a:p>
        </p:txBody>
      </p:sp>
      <p:sp>
        <p:nvSpPr>
          <p:cNvPr id="34" name="Oval 33"/>
          <p:cNvSpPr/>
          <p:nvPr/>
        </p:nvSpPr>
        <p:spPr>
          <a:xfrm>
            <a:off x="5239512" y="3200400"/>
            <a:ext cx="146304" cy="146304"/>
          </a:xfrm>
          <a:prstGeom prst="ellipse">
            <a:avLst/>
          </a:prstGeom>
          <a:solidFill>
            <a:srgbClr val="7F8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0056" y="3419856"/>
            <a:ext cx="5943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10" b="1">
                <a:solidFill>
                  <a:srgbClr val="7F8BA3"/>
                </a:solidFill>
                <a:latin typeface="Aptos"/>
              </a:rPr>
              <a:t>AGED OUT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513832" y="3172968"/>
            <a:ext cx="594360" cy="0"/>
          </a:xfrm>
          <a:prstGeom prst="line">
            <a:avLst/>
          </a:prstGeom>
          <a:ln w="17780">
            <a:solidFill>
              <a:srgbClr val="64F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08192" y="2953512"/>
            <a:ext cx="107899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>
                <a:solidFill>
                  <a:srgbClr val="64FFA0"/>
                </a:solidFill>
                <a:latin typeface="Aptos"/>
              </a:rPr>
              <a:t>+2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0176" y="3474720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64FFA0"/>
                </a:solidFill>
                <a:latin typeface="Aptos"/>
              </a:rPr>
              <a:t>credits restored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73752" y="4206240"/>
            <a:ext cx="2157984" cy="502920"/>
          </a:xfrm>
          <a:prstGeom prst="roundRect">
            <a:avLst>
              <a:gd name="adj" fmla="val 24000"/>
            </a:avLst>
          </a:prstGeom>
          <a:solidFill>
            <a:srgbClr val="0F1B26"/>
          </a:solidFill>
          <a:ln w="15875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73752" y="4325112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7FAFC"/>
                </a:solidFill>
                <a:latin typeface="Aptos"/>
              </a:rPr>
              <a:t>2/10  →  4/10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4983480"/>
            <a:ext cx="277977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B8C1D1"/>
                </a:solidFill>
                <a:latin typeface="Aptos"/>
              </a:rPr>
              <a:t>Free users recover capacity over time instead of hitting a dead wall.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2130552"/>
            <a:ext cx="2852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7FAFC"/>
                </a:solidFill>
                <a:latin typeface="Aptos"/>
              </a:rPr>
              <a:t>30-day safeguard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3024" y="2660904"/>
            <a:ext cx="277977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D57A"/>
                </a:solidFill>
                <a:latin typeface="Aptos"/>
              </a:rPr>
              <a:t>monthly envelope ceiling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93024" y="3108960"/>
            <a:ext cx="2779776" cy="320040"/>
          </a:xfrm>
          <a:prstGeom prst="roundRect">
            <a:avLst>
              <a:gd name="adj" fmla="val 22000"/>
            </a:avLst>
          </a:prstGeom>
          <a:solidFill>
            <a:srgbClr val="261D11"/>
          </a:solidFill>
          <a:ln w="12700">
            <a:solidFill>
              <a:srgbClr val="443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193024" y="3108960"/>
            <a:ext cx="1783080" cy="320040"/>
          </a:xfrm>
          <a:prstGeom prst="roundRect">
            <a:avLst>
              <a:gd name="adj" fmla="val 22000"/>
            </a:avLst>
          </a:prstGeom>
          <a:solidFill>
            <a:srgbClr val="FFB020"/>
          </a:solidFill>
          <a:ln w="635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10351008" y="2990088"/>
            <a:ext cx="0" cy="539496"/>
          </a:xfrm>
          <a:prstGeom prst="line">
            <a:avLst/>
          </a:prstGeom>
          <a:ln w="17780">
            <a:solidFill>
              <a:srgbClr val="FFB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076688" y="2779776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30" b="1">
                <a:solidFill>
                  <a:srgbClr val="FFD57A"/>
                </a:solidFill>
                <a:latin typeface="Aptos"/>
              </a:rPr>
              <a:t>CEILING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3749040"/>
            <a:ext cx="2779776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8C1D1"/>
                </a:solidFill>
                <a:latin typeface="Aptos"/>
              </a:rPr>
              <a:t>Rolling window controls bursts. Monthly ceiling protects worst-case cost.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" y="5989320"/>
            <a:ext cx="3337560" cy="438912"/>
          </a:xfrm>
          <a:prstGeom prst="roundRect">
            <a:avLst>
              <a:gd name="adj" fmla="val 25000"/>
            </a:avLst>
          </a:prstGeom>
          <a:solidFill>
            <a:srgbClr val="111927"/>
          </a:solidFill>
          <a:ln w="14604">
            <a:solidFill>
              <a:srgbClr val="2B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2960" y="6117336"/>
            <a:ext cx="8412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>
                <a:solidFill>
                  <a:srgbClr val="2BE4FF"/>
                </a:solidFill>
                <a:latin typeface="Aptos"/>
              </a:rPr>
              <a:t>FREE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72768" y="6099048"/>
            <a:ext cx="22585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20" b="1">
                <a:solidFill>
                  <a:srgbClr val="F7FAFC"/>
                </a:solidFill>
                <a:latin typeface="Aptos"/>
              </a:rPr>
              <a:t>Capacity comes back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51960" y="5989320"/>
            <a:ext cx="3337560" cy="438912"/>
          </a:xfrm>
          <a:prstGeom prst="roundRect">
            <a:avLst>
              <a:gd name="adj" fmla="val 25000"/>
            </a:avLst>
          </a:prstGeom>
          <a:solidFill>
            <a:srgbClr val="111927"/>
          </a:solidFill>
          <a:ln w="14604">
            <a:solidFill>
              <a:srgbClr val="64F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416552" y="6117336"/>
            <a:ext cx="8412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>
                <a:solidFill>
                  <a:srgbClr val="64FFA0"/>
                </a:solidFill>
                <a:latin typeface="Aptos"/>
              </a:rPr>
              <a:t>CORE / MAX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66360" y="6099048"/>
            <a:ext cx="22585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20" b="1">
                <a:solidFill>
                  <a:srgbClr val="F7FAFC"/>
                </a:solidFill>
                <a:latin typeface="Aptos"/>
              </a:rPr>
              <a:t>More capacity, less waiting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45552" y="5989320"/>
            <a:ext cx="3337560" cy="438912"/>
          </a:xfrm>
          <a:prstGeom prst="roundRect">
            <a:avLst>
              <a:gd name="adj" fmla="val 25000"/>
            </a:avLst>
          </a:prstGeom>
          <a:solidFill>
            <a:srgbClr val="111927"/>
          </a:solidFill>
          <a:ln w="14604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10144" y="6117336"/>
            <a:ext cx="8412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>
                <a:solidFill>
                  <a:srgbClr val="FFB020"/>
                </a:solidFill>
                <a:latin typeface="Aptos"/>
              </a:rPr>
              <a:t>SYSTEM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59952" y="6099048"/>
            <a:ext cx="22585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20" b="1">
                <a:solidFill>
                  <a:srgbClr val="F7FAFC"/>
                </a:solidFill>
                <a:latin typeface="Aptos"/>
              </a:rPr>
              <a:t>Cost-aware by design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862511" y="6656832"/>
            <a:ext cx="1371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F8BA3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 w="12700">
            <a:solidFill>
              <a:srgbClr val="0A0B0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402568" y="64556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47488" y="1207008"/>
            <a:ext cx="1965960" cy="1965960"/>
          </a:xfrm>
          <a:prstGeom prst="ellipse">
            <a:avLst/>
          </a:prstGeom>
          <a:solidFill>
            <a:srgbClr val="4DD8E6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974336" y="1133856"/>
            <a:ext cx="2112264" cy="2112264"/>
          </a:xfrm>
          <a:prstGeom prst="ellipse">
            <a:avLst/>
          </a:prstGeom>
          <a:solidFill>
            <a:srgbClr val="4DD8E6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901184" y="1060704"/>
            <a:ext cx="2258568" cy="2258568"/>
          </a:xfrm>
          <a:prstGeom prst="ellipse">
            <a:avLst/>
          </a:prstGeom>
          <a:solidFill>
            <a:srgbClr val="4DD8E6">
              <a:alpha val="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828032" y="987552"/>
            <a:ext cx="2404872" cy="2404872"/>
          </a:xfrm>
          <a:prstGeom prst="ellipse">
            <a:avLst/>
          </a:prstGeom>
          <a:solidFill>
            <a:srgbClr val="4DD8E6">
              <a:alpha val="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₹499. Why ₹1,499.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58368" y="10515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costs time. Paid buys throughput.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993392" y="1353312"/>
            <a:ext cx="8211312" cy="457200"/>
          </a:xfrm>
          <a:prstGeom prst="roundRect">
            <a:avLst>
              <a:gd name="adj" fmla="val 16000"/>
            </a:avLst>
          </a:prstGeom>
          <a:solidFill>
            <a:srgbClr val="1C1F24"/>
          </a:solidFill>
          <a:ln w="8890">
            <a:solidFill>
              <a:srgbClr val="2A2E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221992" y="1490472"/>
            <a:ext cx="65836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057400" y="1636776"/>
            <a:ext cx="98755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ops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3054096" y="1609344"/>
            <a:ext cx="585216" cy="0"/>
          </a:xfrm>
          <a:prstGeom prst="line">
            <a:avLst/>
          </a:prstGeom>
          <a:noFill/>
          <a:ln w="10160">
            <a:solidFill>
              <a:srgbClr val="2A2E3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160520" y="1490472"/>
            <a:ext cx="65836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995928" y="1636776"/>
            <a:ext cx="98755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12h window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992624" y="1609344"/>
            <a:ext cx="585216" cy="0"/>
          </a:xfrm>
          <a:prstGeom prst="line">
            <a:avLst/>
          </a:prstGeom>
          <a:noFill/>
          <a:ln w="10160">
            <a:solidFill>
              <a:srgbClr val="4DD8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099048" y="1490472"/>
            <a:ext cx="65836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934456" y="1636776"/>
            <a:ext cx="98755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waiting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6931152" y="1609344"/>
            <a:ext cx="585216" cy="0"/>
          </a:xfrm>
          <a:prstGeom prst="line">
            <a:avLst/>
          </a:prstGeom>
          <a:noFill/>
          <a:ln w="10160">
            <a:solidFill>
              <a:srgbClr val="4DD8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037576" y="1490472"/>
            <a:ext cx="65836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DD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872984" y="1636776"/>
            <a:ext cx="98755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DD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₹499 / ₹1,499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713232" y="2212848"/>
            <a:ext cx="3319272" cy="3236976"/>
          </a:xfrm>
          <a:prstGeom prst="roundRect">
            <a:avLst>
              <a:gd name="adj" fmla="val 2260"/>
            </a:avLst>
          </a:prstGeom>
          <a:solidFill>
            <a:srgbClr val="141619">
              <a:alpha val="97000"/>
            </a:srgbClr>
          </a:solidFill>
          <a:ln w="11430">
            <a:solidFill>
              <a:srgbClr val="5C63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69264" y="2441448"/>
            <a:ext cx="1225296" cy="274320"/>
          </a:xfrm>
          <a:prstGeom prst="roundRect">
            <a:avLst>
              <a:gd name="adj" fmla="val 26667"/>
            </a:avLst>
          </a:prstGeom>
          <a:solidFill>
            <a:srgbClr val="1C1F24"/>
          </a:solidFill>
          <a:ln w="10160">
            <a:solidFill>
              <a:srgbClr val="5C63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042416" y="2542032"/>
            <a:ext cx="1078992" cy="50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HERE</a:t>
            </a:r>
            <a:endParaRPr lang="en-US" sz="690" dirty="0"/>
          </a:p>
        </p:txBody>
      </p:sp>
      <p:sp>
        <p:nvSpPr>
          <p:cNvPr id="25" name="Text 23"/>
          <p:cNvSpPr/>
          <p:nvPr/>
        </p:nvSpPr>
        <p:spPr>
          <a:xfrm>
            <a:off x="969264" y="297180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969264" y="3246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70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₹0</a:t>
            </a:r>
            <a:endParaRPr lang="en-US" sz="3700" dirty="0"/>
          </a:p>
        </p:txBody>
      </p:sp>
      <p:sp>
        <p:nvSpPr>
          <p:cNvPr id="27" name="Text 25"/>
          <p:cNvSpPr/>
          <p:nvPr/>
        </p:nvSpPr>
        <p:spPr>
          <a:xfrm>
            <a:off x="2816352" y="3493008"/>
            <a:ext cx="80467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30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30 days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969264" y="381304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Time-constrained entry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969264" y="4261104"/>
            <a:ext cx="2807208" cy="0"/>
          </a:xfrm>
          <a:prstGeom prst="line">
            <a:avLst/>
          </a:prstGeom>
          <a:noFill/>
          <a:ln w="8255">
            <a:solidFill>
              <a:srgbClr val="2A2E3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87552" y="4498848"/>
            <a:ext cx="155448" cy="155448"/>
          </a:xfrm>
          <a:prstGeom prst="ellipse">
            <a:avLst/>
          </a:prstGeom>
          <a:solidFill>
            <a:srgbClr val="5C636E">
              <a:alpha val="18000"/>
            </a:srgbClr>
          </a:solidFill>
          <a:ln w="8890">
            <a:solidFill>
              <a:srgbClr val="5C63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05840" y="4507992"/>
            <a:ext cx="1188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243584" y="4480560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1673352" y="4489704"/>
            <a:ext cx="1554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87552" y="4892040"/>
            <a:ext cx="155448" cy="155448"/>
          </a:xfrm>
          <a:prstGeom prst="ellipse">
            <a:avLst/>
          </a:prstGeom>
          <a:solidFill>
            <a:srgbClr val="5C636E">
              <a:alpha val="18000"/>
            </a:srgbClr>
          </a:solidFill>
          <a:ln w="8890">
            <a:solidFill>
              <a:srgbClr val="5C63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1005840" y="4901184"/>
            <a:ext cx="1188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1243584" y="4873752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1673352" y="4882896"/>
            <a:ext cx="1554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87552" y="5285232"/>
            <a:ext cx="155448" cy="155448"/>
          </a:xfrm>
          <a:prstGeom prst="ellipse">
            <a:avLst/>
          </a:prstGeom>
          <a:solidFill>
            <a:srgbClr val="5C636E">
              <a:alpha val="18000"/>
            </a:srgbClr>
          </a:solidFill>
          <a:ln w="8890">
            <a:solidFill>
              <a:srgbClr val="5C63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1005840" y="5294376"/>
            <a:ext cx="1188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1243584" y="5266944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40" dirty="0"/>
          </a:p>
        </p:txBody>
      </p:sp>
      <p:sp>
        <p:nvSpPr>
          <p:cNvPr id="41" name="Text 39"/>
          <p:cNvSpPr/>
          <p:nvPr/>
        </p:nvSpPr>
        <p:spPr>
          <a:xfrm>
            <a:off x="1673352" y="5276088"/>
            <a:ext cx="1554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Intelligence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361688" y="2002536"/>
            <a:ext cx="3493008" cy="3584448"/>
          </a:xfrm>
          <a:prstGeom prst="roundRect">
            <a:avLst>
              <a:gd name="adj" fmla="val 2880"/>
            </a:avLst>
          </a:prstGeom>
          <a:solidFill>
            <a:srgbClr val="4DD8E6">
              <a:alpha val="4000"/>
            </a:srgbClr>
          </a:solidFill>
          <a:ln w="17780">
            <a:solidFill>
              <a:srgbClr val="4DD8E6">
                <a:alpha val="5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4434840" y="2075688"/>
            <a:ext cx="3346704" cy="3438144"/>
          </a:xfrm>
          <a:prstGeom prst="roundRect">
            <a:avLst>
              <a:gd name="adj" fmla="val 2186"/>
            </a:avLst>
          </a:prstGeom>
          <a:solidFill>
            <a:srgbClr val="111A1D"/>
          </a:solidFill>
          <a:ln w="18415">
            <a:solidFill>
              <a:srgbClr val="4DD8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4690872" y="2304288"/>
            <a:ext cx="1225296" cy="274320"/>
          </a:xfrm>
          <a:prstGeom prst="roundRect">
            <a:avLst>
              <a:gd name="adj" fmla="val 26667"/>
            </a:avLst>
          </a:prstGeom>
          <a:solidFill>
            <a:srgbClr val="1C1F24"/>
          </a:solidFill>
          <a:ln w="10160">
            <a:solidFill>
              <a:srgbClr val="4DD8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4764024" y="2404872"/>
            <a:ext cx="1078992" cy="50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4DD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POPULAR</a:t>
            </a:r>
            <a:endParaRPr lang="en-US" sz="690" dirty="0"/>
          </a:p>
        </p:txBody>
      </p:sp>
      <p:sp>
        <p:nvSpPr>
          <p:cNvPr id="46" name="Text 44"/>
          <p:cNvSpPr/>
          <p:nvPr/>
        </p:nvSpPr>
        <p:spPr>
          <a:xfrm>
            <a:off x="4690872" y="283464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4DD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</a:t>
            </a:r>
            <a:endParaRPr lang="en-US" sz="1260" dirty="0"/>
          </a:p>
        </p:txBody>
      </p:sp>
      <p:sp>
        <p:nvSpPr>
          <p:cNvPr id="47" name="Text 45"/>
          <p:cNvSpPr/>
          <p:nvPr/>
        </p:nvSpPr>
        <p:spPr>
          <a:xfrm>
            <a:off x="4690872" y="3108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70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₹499</a:t>
            </a:r>
            <a:endParaRPr lang="en-US" sz="3700" dirty="0"/>
          </a:p>
        </p:txBody>
      </p:sp>
      <p:sp>
        <p:nvSpPr>
          <p:cNvPr id="48" name="Text 46"/>
          <p:cNvSpPr/>
          <p:nvPr/>
        </p:nvSpPr>
        <p:spPr>
          <a:xfrm>
            <a:off x="6537960" y="3355848"/>
            <a:ext cx="80467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30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30 days</a:t>
            </a:r>
            <a:endParaRPr lang="en-US" sz="830" dirty="0"/>
          </a:p>
        </p:txBody>
      </p:sp>
      <p:sp>
        <p:nvSpPr>
          <p:cNvPr id="49" name="Text 47"/>
          <p:cNvSpPr/>
          <p:nvPr/>
        </p:nvSpPr>
        <p:spPr>
          <a:xfrm>
            <a:off x="4690872" y="367588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balance for active learners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4690872" y="4123944"/>
            <a:ext cx="2834640" cy="0"/>
          </a:xfrm>
          <a:prstGeom prst="line">
            <a:avLst/>
          </a:prstGeom>
          <a:noFill/>
          <a:ln w="8255">
            <a:solidFill>
              <a:srgbClr val="2A2E3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4709160" y="4361688"/>
            <a:ext cx="155448" cy="155448"/>
          </a:xfrm>
          <a:prstGeom prst="ellipse">
            <a:avLst/>
          </a:prstGeom>
          <a:solidFill>
            <a:srgbClr val="4DD8E6">
              <a:alpha val="18000"/>
            </a:srgbClr>
          </a:solidFill>
          <a:ln w="8890">
            <a:solidFill>
              <a:srgbClr val="4DD8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4727448" y="4370832"/>
            <a:ext cx="1188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4DD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40" dirty="0"/>
          </a:p>
        </p:txBody>
      </p:sp>
      <p:sp>
        <p:nvSpPr>
          <p:cNvPr id="53" name="Text 51"/>
          <p:cNvSpPr/>
          <p:nvPr/>
        </p:nvSpPr>
        <p:spPr>
          <a:xfrm>
            <a:off x="4965192" y="4343400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1040" dirty="0"/>
          </a:p>
        </p:txBody>
      </p:sp>
      <p:sp>
        <p:nvSpPr>
          <p:cNvPr id="54" name="Text 52"/>
          <p:cNvSpPr/>
          <p:nvPr/>
        </p:nvSpPr>
        <p:spPr>
          <a:xfrm>
            <a:off x="5394960" y="4352544"/>
            <a:ext cx="1554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09160" y="4754880"/>
            <a:ext cx="155448" cy="155448"/>
          </a:xfrm>
          <a:prstGeom prst="ellipse">
            <a:avLst/>
          </a:prstGeom>
          <a:solidFill>
            <a:srgbClr val="4DD8E6">
              <a:alpha val="18000"/>
            </a:srgbClr>
          </a:solidFill>
          <a:ln w="8890">
            <a:solidFill>
              <a:srgbClr val="4DD8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4727448" y="4764024"/>
            <a:ext cx="1188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4DD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4965192" y="4736592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040" dirty="0"/>
          </a:p>
        </p:txBody>
      </p:sp>
      <p:sp>
        <p:nvSpPr>
          <p:cNvPr id="58" name="Text 56"/>
          <p:cNvSpPr/>
          <p:nvPr/>
        </p:nvSpPr>
        <p:spPr>
          <a:xfrm>
            <a:off x="5394960" y="4745736"/>
            <a:ext cx="1554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709160" y="5148072"/>
            <a:ext cx="155448" cy="155448"/>
          </a:xfrm>
          <a:prstGeom prst="ellipse">
            <a:avLst/>
          </a:prstGeom>
          <a:solidFill>
            <a:srgbClr val="4DD8E6">
              <a:alpha val="18000"/>
            </a:srgbClr>
          </a:solidFill>
          <a:ln w="8890">
            <a:solidFill>
              <a:srgbClr val="4DD8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4727448" y="5157216"/>
            <a:ext cx="1188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4DD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40" dirty="0"/>
          </a:p>
        </p:txBody>
      </p:sp>
      <p:sp>
        <p:nvSpPr>
          <p:cNvPr id="61" name="Text 59"/>
          <p:cNvSpPr/>
          <p:nvPr/>
        </p:nvSpPr>
        <p:spPr>
          <a:xfrm>
            <a:off x="4965192" y="5129784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40" dirty="0"/>
          </a:p>
        </p:txBody>
      </p:sp>
      <p:sp>
        <p:nvSpPr>
          <p:cNvPr id="62" name="Text 60"/>
          <p:cNvSpPr/>
          <p:nvPr/>
        </p:nvSpPr>
        <p:spPr>
          <a:xfrm>
            <a:off x="5394960" y="5138928"/>
            <a:ext cx="1554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Intelligence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165592" y="2212848"/>
            <a:ext cx="3319272" cy="3236976"/>
          </a:xfrm>
          <a:prstGeom prst="roundRect">
            <a:avLst>
              <a:gd name="adj" fmla="val 2260"/>
            </a:avLst>
          </a:prstGeom>
          <a:solidFill>
            <a:srgbClr val="141619">
              <a:alpha val="97000"/>
            </a:srgbClr>
          </a:solidFill>
          <a:ln w="11430">
            <a:solidFill>
              <a:srgbClr val="8B7D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8421624" y="2441448"/>
            <a:ext cx="1225296" cy="274320"/>
          </a:xfrm>
          <a:prstGeom prst="roundRect">
            <a:avLst>
              <a:gd name="adj" fmla="val 26667"/>
            </a:avLst>
          </a:prstGeom>
          <a:solidFill>
            <a:srgbClr val="1C1F24"/>
          </a:solidFill>
          <a:ln w="10160">
            <a:solidFill>
              <a:srgbClr val="8B7D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8494776" y="2542032"/>
            <a:ext cx="1078992" cy="50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8B7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USERS</a:t>
            </a:r>
            <a:endParaRPr lang="en-US" sz="690" dirty="0"/>
          </a:p>
        </p:txBody>
      </p:sp>
      <p:sp>
        <p:nvSpPr>
          <p:cNvPr id="66" name="Text 64"/>
          <p:cNvSpPr/>
          <p:nvPr/>
        </p:nvSpPr>
        <p:spPr>
          <a:xfrm>
            <a:off x="8421624" y="297180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8B7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</a:t>
            </a:r>
            <a:endParaRPr lang="en-US" sz="1260" dirty="0"/>
          </a:p>
        </p:txBody>
      </p:sp>
      <p:sp>
        <p:nvSpPr>
          <p:cNvPr id="67" name="Text 65"/>
          <p:cNvSpPr/>
          <p:nvPr/>
        </p:nvSpPr>
        <p:spPr>
          <a:xfrm>
            <a:off x="8421624" y="3246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₹1,499</a:t>
            </a:r>
            <a:endParaRPr lang="en-US" sz="3100" dirty="0"/>
          </a:p>
        </p:txBody>
      </p:sp>
      <p:sp>
        <p:nvSpPr>
          <p:cNvPr id="68" name="Text 66"/>
          <p:cNvSpPr/>
          <p:nvPr/>
        </p:nvSpPr>
        <p:spPr>
          <a:xfrm>
            <a:off x="10268712" y="3493008"/>
            <a:ext cx="80467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30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30 days</a:t>
            </a:r>
            <a:endParaRPr lang="en-US" sz="830" dirty="0"/>
          </a:p>
        </p:txBody>
      </p:sp>
      <p:sp>
        <p:nvSpPr>
          <p:cNvPr id="69" name="Text 67"/>
          <p:cNvSpPr/>
          <p:nvPr/>
        </p:nvSpPr>
        <p:spPr>
          <a:xfrm>
            <a:off x="8421624" y="381304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users · heavy workspaces</a:t>
            </a:r>
            <a:endParaRPr lang="en-US" sz="1020" dirty="0"/>
          </a:p>
        </p:txBody>
      </p:sp>
      <p:sp>
        <p:nvSpPr>
          <p:cNvPr id="70" name="Shape 68"/>
          <p:cNvSpPr/>
          <p:nvPr/>
        </p:nvSpPr>
        <p:spPr>
          <a:xfrm>
            <a:off x="8421624" y="4261104"/>
            <a:ext cx="2807208" cy="0"/>
          </a:xfrm>
          <a:prstGeom prst="line">
            <a:avLst/>
          </a:prstGeom>
          <a:noFill/>
          <a:ln w="8255">
            <a:solidFill>
              <a:srgbClr val="2A2E3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8439912" y="4498848"/>
            <a:ext cx="155448" cy="155448"/>
          </a:xfrm>
          <a:prstGeom prst="ellipse">
            <a:avLst/>
          </a:prstGeom>
          <a:solidFill>
            <a:srgbClr val="8B7DF0">
              <a:alpha val="18000"/>
            </a:srgbClr>
          </a:solidFill>
          <a:ln w="8890">
            <a:solidFill>
              <a:srgbClr val="8B7D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8458200" y="4507992"/>
            <a:ext cx="1188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8B7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8695944" y="4480560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</a:t>
            </a:r>
            <a:endParaRPr lang="en-US" sz="1040" dirty="0"/>
          </a:p>
        </p:txBody>
      </p:sp>
      <p:sp>
        <p:nvSpPr>
          <p:cNvPr id="74" name="Text 72"/>
          <p:cNvSpPr/>
          <p:nvPr/>
        </p:nvSpPr>
        <p:spPr>
          <a:xfrm>
            <a:off x="9125712" y="4489704"/>
            <a:ext cx="1554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Chats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8439912" y="4892040"/>
            <a:ext cx="155448" cy="155448"/>
          </a:xfrm>
          <a:prstGeom prst="ellipse">
            <a:avLst/>
          </a:prstGeom>
          <a:solidFill>
            <a:srgbClr val="8B7DF0">
              <a:alpha val="18000"/>
            </a:srgbClr>
          </a:solidFill>
          <a:ln w="8890">
            <a:solidFill>
              <a:srgbClr val="8B7D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74"/>
          <p:cNvSpPr/>
          <p:nvPr/>
        </p:nvSpPr>
        <p:spPr>
          <a:xfrm>
            <a:off x="8458200" y="4901184"/>
            <a:ext cx="1188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8B7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8695944" y="4873752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1040" dirty="0"/>
          </a:p>
        </p:txBody>
      </p:sp>
      <p:sp>
        <p:nvSpPr>
          <p:cNvPr id="78" name="Text 76"/>
          <p:cNvSpPr/>
          <p:nvPr/>
        </p:nvSpPr>
        <p:spPr>
          <a:xfrm>
            <a:off x="9125712" y="4882896"/>
            <a:ext cx="1554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Ingestions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8439912" y="5285232"/>
            <a:ext cx="155448" cy="155448"/>
          </a:xfrm>
          <a:prstGeom prst="ellipse">
            <a:avLst/>
          </a:prstGeom>
          <a:solidFill>
            <a:srgbClr val="8B7DF0">
              <a:alpha val="18000"/>
            </a:srgbClr>
          </a:solidFill>
          <a:ln w="8890">
            <a:solidFill>
              <a:srgbClr val="8B7D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78"/>
          <p:cNvSpPr/>
          <p:nvPr/>
        </p:nvSpPr>
        <p:spPr>
          <a:xfrm>
            <a:off x="8458200" y="5294376"/>
            <a:ext cx="1188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8B7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40" dirty="0"/>
          </a:p>
        </p:txBody>
      </p:sp>
      <p:sp>
        <p:nvSpPr>
          <p:cNvPr id="81" name="Text 79"/>
          <p:cNvSpPr/>
          <p:nvPr/>
        </p:nvSpPr>
        <p:spPr>
          <a:xfrm>
            <a:off x="8695944" y="5266944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040" dirty="0"/>
          </a:p>
        </p:txBody>
      </p:sp>
      <p:sp>
        <p:nvSpPr>
          <p:cNvPr id="82" name="Text 80"/>
          <p:cNvSpPr/>
          <p:nvPr/>
        </p:nvSpPr>
        <p:spPr>
          <a:xfrm>
            <a:off x="9125712" y="5276088"/>
            <a:ext cx="1554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Intelligence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2907792" y="5623560"/>
            <a:ext cx="6400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40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limits shown per rolling 12-hour window · AI Actions and Learning Paths also scale by tier</a:t>
            </a:r>
            <a:endParaRPr lang="en-US" sz="840" dirty="0"/>
          </a:p>
        </p:txBody>
      </p:sp>
      <p:sp>
        <p:nvSpPr>
          <p:cNvPr id="84" name="Shape 82"/>
          <p:cNvSpPr/>
          <p:nvPr/>
        </p:nvSpPr>
        <p:spPr>
          <a:xfrm>
            <a:off x="960120" y="5961888"/>
            <a:ext cx="10277856" cy="502920"/>
          </a:xfrm>
          <a:prstGeom prst="roundRect">
            <a:avLst>
              <a:gd name="adj" fmla="val 14545"/>
            </a:avLst>
          </a:prstGeom>
          <a:solidFill>
            <a:srgbClr val="1C1F24">
              <a:alpha val="99000"/>
            </a:srgbClr>
          </a:solidFill>
          <a:ln w="12700">
            <a:solidFill>
              <a:srgbClr val="4DD8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Text 83"/>
          <p:cNvSpPr/>
          <p:nvPr/>
        </p:nvSpPr>
        <p:spPr>
          <a:xfrm>
            <a:off x="1225296" y="6144768"/>
            <a:ext cx="78638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4DD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PAY?</a:t>
            </a:r>
            <a:endParaRPr lang="en-US" sz="780" dirty="0"/>
          </a:p>
        </p:txBody>
      </p:sp>
      <p:sp>
        <p:nvSpPr>
          <p:cNvPr id="86" name="Text 84"/>
          <p:cNvSpPr/>
          <p:nvPr/>
        </p:nvSpPr>
        <p:spPr>
          <a:xfrm>
            <a:off x="2130552" y="6089904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costs time.</a:t>
            </a:r>
            <a:endParaRPr lang="en-US" sz="1240" dirty="0"/>
          </a:p>
        </p:txBody>
      </p:sp>
      <p:sp>
        <p:nvSpPr>
          <p:cNvPr id="87" name="Text 85"/>
          <p:cNvSpPr/>
          <p:nvPr/>
        </p:nvSpPr>
        <p:spPr>
          <a:xfrm>
            <a:off x="4069080" y="6089904"/>
            <a:ext cx="22128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4DD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buys throughput.</a:t>
            </a:r>
            <a:endParaRPr lang="en-US" sz="1240" dirty="0"/>
          </a:p>
        </p:txBody>
      </p:sp>
      <p:sp>
        <p:nvSpPr>
          <p:cNvPr id="88" name="Text 86"/>
          <p:cNvSpPr/>
          <p:nvPr/>
        </p:nvSpPr>
        <p:spPr>
          <a:xfrm>
            <a:off x="6419088" y="6117336"/>
            <a:ext cx="4462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60" dirty="0">
                <a:solidFill>
                  <a:srgbClr val="9B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capacity · less waiting · heavier learning workflows</a:t>
            </a:r>
            <a:endParaRPr lang="en-US" sz="960" dirty="0"/>
          </a:p>
        </p:txBody>
      </p: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F4F7FB"/>
                </a:solidFill>
                <a:latin typeface="Aptos"/>
              </a:rPr>
              <a:t>How people find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4183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A7B3C7"/>
                </a:solidFill>
                <a:latin typeface="Aptos"/>
              </a:rPr>
              <a:t>The first channel is already running: build in public → conversations → users → paid.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72768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131A26"/>
          </a:solidFill>
          <a:ln w="15875">
            <a:solidFill>
              <a:srgbClr val="2B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100" b="1">
                <a:solidFill>
                  <a:srgbClr val="F4F7FB"/>
                </a:solidFill>
                <a:latin typeface="Aptos"/>
              </a:rPr>
              <a:t>~20K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0370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6E7A8F"/>
                </a:solidFill>
                <a:latin typeface="Aptos"/>
              </a:rPr>
              <a:t>VIEWS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34056" y="2048256"/>
            <a:ext cx="173736" cy="0"/>
          </a:xfrm>
          <a:prstGeom prst="line">
            <a:avLst/>
          </a:prstGeom>
          <a:ln w="20320">
            <a:solidFill>
              <a:srgbClr val="344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98064" y="1929384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344054"/>
                </a:solidFill>
                <a:latin typeface="Aptos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4368" y="1572768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131A26"/>
          </a:solidFill>
          <a:ln w="15875">
            <a:solidFill>
              <a:srgbClr val="2B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44368" y="173736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100" b="1">
                <a:solidFill>
                  <a:srgbClr val="F4F7FB"/>
                </a:solidFill>
                <a:latin typeface="Aptos"/>
              </a:rPr>
              <a:t>97%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20370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6E7A8F"/>
                </a:solidFill>
                <a:latin typeface="Aptos"/>
              </a:rPr>
              <a:t>NON-FOLLOWERS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9744" y="2048256"/>
            <a:ext cx="173736" cy="0"/>
          </a:xfrm>
          <a:prstGeom prst="line">
            <a:avLst/>
          </a:prstGeom>
          <a:ln w="20320">
            <a:solidFill>
              <a:srgbClr val="344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73752" y="1929384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344054"/>
                </a:solidFill>
                <a:latin typeface="Aptos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0056" y="1572768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131A26"/>
          </a:solidFill>
          <a:ln w="15875">
            <a:solidFill>
              <a:srgbClr val="2B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0056" y="173736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100" b="1">
                <a:solidFill>
                  <a:srgbClr val="F4F7FB"/>
                </a:solidFill>
                <a:latin typeface="Aptos"/>
              </a:rPr>
              <a:t>10–12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0056" y="220370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6E7A8F"/>
                </a:solidFill>
                <a:latin typeface="Aptos"/>
              </a:rPr>
              <a:t>CONVERSATIONS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85432" y="2048256"/>
            <a:ext cx="173736" cy="0"/>
          </a:xfrm>
          <a:prstGeom prst="line">
            <a:avLst/>
          </a:prstGeom>
          <a:ln w="20320">
            <a:solidFill>
              <a:srgbClr val="344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49440" y="1929384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344054"/>
                </a:solidFill>
                <a:latin typeface="Apto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95744" y="1572768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131A26"/>
          </a:solidFill>
          <a:ln w="15875">
            <a:solidFill>
              <a:srgbClr val="2B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95744" y="173736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100" b="1">
                <a:solidFill>
                  <a:srgbClr val="F4F7FB"/>
                </a:solidFill>
                <a:latin typeface="Aptos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5744" y="220370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6E7A8F"/>
                </a:solidFill>
                <a:latin typeface="Aptos"/>
              </a:rPr>
              <a:t>USERS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61120" y="2048256"/>
            <a:ext cx="173736" cy="0"/>
          </a:xfrm>
          <a:prstGeom prst="line">
            <a:avLst/>
          </a:prstGeom>
          <a:ln w="20320">
            <a:solidFill>
              <a:srgbClr val="344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025128" y="1929384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344054"/>
                </a:solidFill>
                <a:latin typeface="Aptos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71432" y="1572768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132431"/>
          </a:solidFill>
          <a:ln w="15875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71432" y="173736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100" b="1">
                <a:solidFill>
                  <a:srgbClr val="00F2FE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220370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0F2FE"/>
                </a:solidFill>
                <a:latin typeface="Aptos"/>
              </a:rPr>
              <a:t>PAID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063240"/>
            <a:ext cx="3364992" cy="1874519"/>
          </a:xfrm>
          <a:prstGeom prst="roundRect">
            <a:avLst>
              <a:gd name="adj" fmla="val 10000"/>
            </a:avLst>
          </a:prstGeom>
          <a:solidFill>
            <a:srgbClr val="131821"/>
          </a:solidFill>
          <a:ln w="12700">
            <a:solidFill>
              <a:srgbClr val="2B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59536" y="3154680"/>
            <a:ext cx="3072384" cy="36576"/>
          </a:xfrm>
          <a:prstGeom prst="rect">
            <a:avLst/>
          </a:prstGeom>
          <a:solidFill>
            <a:srgbClr val="00F2FE"/>
          </a:solidFill>
          <a:ln w="127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3337560"/>
            <a:ext cx="2962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E7A8F"/>
                </a:solidFill>
                <a:latin typeface="Aptos"/>
              </a:rPr>
              <a:t>BUILD IN PUBLIC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685032"/>
            <a:ext cx="296265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F4F7FB"/>
                </a:solidFill>
                <a:latin typeface="Aptos"/>
              </a:rPr>
              <a:t>Short demos + daily build posts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489704"/>
            <a:ext cx="29626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A7B3C7"/>
                </a:solidFill>
                <a:latin typeface="Aptos"/>
              </a:rPr>
              <a:t>reels · stories · progress logs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0832" y="3063240"/>
            <a:ext cx="3364992" cy="1874519"/>
          </a:xfrm>
          <a:prstGeom prst="roundRect">
            <a:avLst>
              <a:gd name="adj" fmla="val 10000"/>
            </a:avLst>
          </a:prstGeom>
          <a:solidFill>
            <a:srgbClr val="131821"/>
          </a:solidFill>
          <a:ln w="12700">
            <a:solidFill>
              <a:srgbClr val="2B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17136" y="3154680"/>
            <a:ext cx="3072384" cy="36576"/>
          </a:xfrm>
          <a:prstGeom prst="rect">
            <a:avLst/>
          </a:prstGeom>
          <a:solidFill>
            <a:srgbClr val="00F2FE"/>
          </a:solidFill>
          <a:ln w="127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0" y="3337560"/>
            <a:ext cx="2962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E7A8F"/>
                </a:solidFill>
                <a:latin typeface="Aptos"/>
              </a:rPr>
              <a:t>COMMUNITIES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685032"/>
            <a:ext cx="296265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F4F7FB"/>
                </a:solidFill>
                <a:latin typeface="Aptos"/>
              </a:rPr>
              <a:t>ChaiCode, developer and campus groups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489704"/>
            <a:ext cx="29626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A7B3C7"/>
                </a:solidFill>
                <a:latin typeface="Aptos"/>
              </a:rPr>
              <a:t>feedback → conversations → activation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28432" y="3063240"/>
            <a:ext cx="3364992" cy="1874519"/>
          </a:xfrm>
          <a:prstGeom prst="roundRect">
            <a:avLst>
              <a:gd name="adj" fmla="val 10000"/>
            </a:avLst>
          </a:prstGeom>
          <a:solidFill>
            <a:srgbClr val="131821"/>
          </a:solidFill>
          <a:ln w="12700">
            <a:solidFill>
              <a:srgbClr val="2B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74736" y="3154680"/>
            <a:ext cx="3072384" cy="36576"/>
          </a:xfrm>
          <a:prstGeom prst="rect">
            <a:avLst/>
          </a:prstGeom>
          <a:solidFill>
            <a:srgbClr val="00F2FE"/>
          </a:solidFill>
          <a:ln w="127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0" y="3337560"/>
            <a:ext cx="2962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E7A8F"/>
                </a:solidFill>
                <a:latin typeface="Aptos"/>
              </a:rPr>
              <a:t>CREATORS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685032"/>
            <a:ext cx="296265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F4F7FB"/>
                </a:solidFill>
                <a:latin typeface="Aptos"/>
              </a:rPr>
              <a:t>Pre-built workspaces around lectures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489704"/>
            <a:ext cx="29626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A7B3C7"/>
                </a:solidFill>
                <a:latin typeface="Aptos"/>
              </a:rPr>
              <a:t>topic-led entry into paid workspaces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4128" y="5870448"/>
            <a:ext cx="9637776" cy="640080"/>
          </a:xfrm>
          <a:prstGeom prst="roundRect">
            <a:avLst>
              <a:gd name="adj" fmla="val 11000"/>
            </a:avLst>
          </a:prstGeom>
          <a:solidFill>
            <a:srgbClr val="181B22"/>
          </a:solidFill>
          <a:ln w="15875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61872" y="5998464"/>
            <a:ext cx="91622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60" b="1">
                <a:solidFill>
                  <a:srgbClr val="FFB300"/>
                </a:solidFill>
                <a:latin typeface="Aptos"/>
              </a:rPr>
              <a:t>Next: faster YouTube ingestion → 30-day cost ceiling → creator workspaces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731752" y="6473952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E7A8F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621792"/>
            <a:ext cx="4892040" cy="5440680"/>
          </a:xfrm>
          <a:prstGeom prst="roundRect">
            <a:avLst>
              <a:gd name="adj" fmla="val 12000"/>
            </a:avLst>
          </a:prstGeom>
          <a:solidFill>
            <a:srgbClr val="09111B"/>
          </a:solidFill>
          <a:ln>
            <a:solidFill>
              <a:srgbClr val="1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12864" y="978408"/>
            <a:ext cx="4443984" cy="4526280"/>
          </a:xfrm>
          <a:prstGeom prst="roundRect">
            <a:avLst>
              <a:gd name="adj" fmla="val 12000"/>
            </a:avLst>
          </a:prstGeom>
          <a:solidFill>
            <a:srgbClr val="0D1622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49440" y="1014984"/>
            <a:ext cx="4370832" cy="4453128"/>
          </a:xfrm>
          <a:prstGeom prst="roundRect">
            <a:avLst>
              <a:gd name="adj" fmla="val 12000"/>
            </a:avLst>
          </a:prstGeom>
          <a:solidFill>
            <a:srgbClr val="0D1622"/>
          </a:solidFill>
          <a:ln w="10160">
            <a:solidFill>
              <a:srgbClr val="1E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g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2" y="1170432"/>
            <a:ext cx="4041648" cy="31455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14032" y="4498848"/>
            <a:ext cx="3886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>
                <a:solidFill>
                  <a:srgbClr val="AAB7C8"/>
                </a:solidFill>
                <a:latin typeface="Aptos"/>
              </a:rPr>
              <a:t>Live product proof: real resume → benchmark gaps</a:t>
            </a:r>
          </a:p>
          <a:p>
            <a:r>
              <a:rPr sz="1300" b="1">
                <a:solidFill>
                  <a:srgbClr val="00F2FE"/>
                </a:solidFill>
                <a:latin typeface="Aptos"/>
              </a:rPr>
              <a:t>Role fit → evidence → gap clarity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987552"/>
            <a:ext cx="1508760" cy="347472"/>
          </a:xfrm>
          <a:prstGeom prst="roundRect">
            <a:avLst>
              <a:gd name="adj" fmla="val 20000"/>
            </a:avLst>
          </a:prstGeom>
          <a:solidFill>
            <a:srgbClr val="0F1C2A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051560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0F2FE"/>
                </a:solidFill>
                <a:latin typeface="Aptos"/>
              </a:rPr>
              <a:t>LUMORA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572768"/>
            <a:ext cx="56692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F7FB"/>
                </a:solidFill>
                <a:latin typeface="Aptos"/>
              </a:rPr>
              <a:t>Answers are easy.</a:t>
            </a:r>
          </a:p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F7FB"/>
                </a:solidFill>
                <a:latin typeface="Aptos"/>
              </a:rPr>
              <a:t>Trust is the product.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93008"/>
            <a:ext cx="47091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AAB7C8"/>
                </a:solidFill>
                <a:latin typeface="Aptos"/>
              </a:rPr>
              <a:t>A learning workspace for answers you can verify and gaps you can close.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76888" y="6446520"/>
            <a:ext cx="228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AAB7C8"/>
                </a:solidFill>
                <a:latin typeface="Aptos"/>
              </a:rPr>
              <a:t>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" y="4370832"/>
            <a:ext cx="4526280" cy="13716"/>
          </a:xfrm>
          <a:prstGeom prst="rect">
            <a:avLst/>
          </a:prstGeom>
          <a:solidFill>
            <a:srgbClr val="17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4553712"/>
            <a:ext cx="23774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4F7FB"/>
                </a:solidFill>
                <a:latin typeface="Aptos"/>
              </a:rPr>
              <a:t>Akshay Krishna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846320"/>
            <a:ext cx="23774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AB7C8"/>
                </a:solidFill>
                <a:latin typeface="Aptos"/>
              </a:rPr>
              <a:t>Founder, Lumora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8688" y="4617720"/>
            <a:ext cx="21488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0F2FE"/>
                </a:solidFill>
                <a:latin typeface="Aptos"/>
              </a:rPr>
              <a:t>getlumora.in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" y="5285232"/>
            <a:ext cx="4526280" cy="512064"/>
          </a:xfrm>
          <a:prstGeom prst="roundRect">
            <a:avLst/>
          </a:prstGeom>
          <a:solidFill>
            <a:srgbClr val="0B1220"/>
          </a:solidFill>
          <a:ln w="10160">
            <a:solidFill>
              <a:srgbClr val="17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4128" y="5376672"/>
            <a:ext cx="8686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0F2FE"/>
                </a:solidFill>
                <a:latin typeface="Aptos"/>
              </a:rPr>
              <a:t>SPECIAL THANKS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5504688"/>
            <a:ext cx="40690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0">
                <a:solidFill>
                  <a:srgbClr val="AAB7C8"/>
                </a:solidFill>
                <a:latin typeface="Aptos"/>
              </a:rPr>
              <a:t>Hitesh Choudhary Sir · Piyush Garg Sir · Anirudh Sir · Suraj Jha Sir · ChaiCode Team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2015</Words>
  <Application>Microsoft Office PowerPoint</Application>
  <PresentationFormat>Widescreen</PresentationFormat>
  <Paragraphs>415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Lumora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Lumora — Hackathon Final Deck</dc:title>
  <dc:subject>Lumora Hackathon Presentation</dc:subject>
  <dc:creator>OpenAI</dc:creator>
  <cp:lastModifiedBy>AKSHAY KRISHNA</cp:lastModifiedBy>
  <cp:revision>2</cp:revision>
  <dcterms:created xsi:type="dcterms:W3CDTF">2026-08-20T09:30:41Z</dcterms:created>
  <dcterms:modified xsi:type="dcterms:W3CDTF">2026-08-20T15:07:38Z</dcterms:modified>
</cp:coreProperties>
</file>