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99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411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274320"/>
            <a:ext cx="167335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" name="Image 0" descr="C:\Users\aksha\AppData\Local\Temp\claude\C--Users-aksha-OneDrive-Desktop-lumora\de06888c-34aa-446e-90c9-fa434af6838b\scratchpad\college_ppt_build\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296" y="383235"/>
            <a:ext cx="1417320" cy="23937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B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· B.TECH CSE · 2025-26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3716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LUMORA AI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2148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2B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evidence. Know your gaps. Build your path.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3246120"/>
            <a:ext cx="3520440" cy="960120"/>
          </a:xfrm>
          <a:prstGeom prst="roundRect">
            <a:avLst>
              <a:gd name="adj" fmla="val 8571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41248" y="337413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Krishna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375818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Roll 18016  ·  AKTU Roll 2302300100013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434840" y="3246120"/>
            <a:ext cx="3520440" cy="960120"/>
          </a:xfrm>
          <a:prstGeom prst="roundRect">
            <a:avLst>
              <a:gd name="adj" fmla="val 8571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636008" y="337413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Anurag Srivastava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636008" y="375818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Roll 18036  ·  AKTU Roll 2302300100034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229600" y="3246120"/>
            <a:ext cx="3520440" cy="960120"/>
          </a:xfrm>
          <a:prstGeom prst="roundRect">
            <a:avLst>
              <a:gd name="adj" fmla="val 8571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430768" y="337413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Gupta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430768" y="375818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Roll 18080  ·  AKTU Roll 2302300100080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</a:t>
            </a:r>
            <a:r>
              <a:rPr lang="en-US" sz="12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Vaishali Mogha, Assistant Professor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58368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532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 PROOF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5852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4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r>
              <a:rPr lang="en-US" sz="950" b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2606040" y="5852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4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950" b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USERS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5852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4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₹2.25K  </a:t>
            </a:r>
            <a:r>
              <a:rPr lang="en-US" sz="950" b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0F2FE">
              <a:alpha val="12000"/>
            </a:srgbClr>
          </a:solidFill>
          <a:ln/>
        </p:spPr>
      </p:sp>
      <p:pic>
        <p:nvPicPr>
          <p:cNvPr id="23" name="Image 1" descr="C:\Users\aksha\AppData\Local\Temp\claude\C--Users-aksha-OneDrive-Desktop-lumora\de06888c-34aa-446e-90c9-fa434af6838b\scratchpad\college_ppt_build\lumora_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1417320"/>
            <a:ext cx="1965960" cy="19659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274320"/>
            <a:ext cx="167335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" name="Image 0" descr="C:\Users\aksha\AppData\Local\Temp\claude\C--Users-aksha-OneDrive-Desktop-lumora\de06888c-34aa-446e-90c9-fa434af6838b\scratchpad\college_ppt_build\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296" y="383235"/>
            <a:ext cx="1417320" cy="23937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10789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B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learning workspace, explained end to end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005840" y="1581912"/>
            <a:ext cx="384048" cy="384048"/>
          </a:xfrm>
          <a:prstGeom prst="ellipse">
            <a:avLst/>
          </a:prstGeom>
          <a:solidFill>
            <a:srgbClr val="12161F"/>
          </a:solidFill>
          <a:ln w="15875">
            <a:solidFill>
              <a:srgbClr val="00F2F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197864" y="1965960"/>
            <a:ext cx="0" cy="548640"/>
          </a:xfrm>
          <a:prstGeom prst="line">
            <a:avLst/>
          </a:prstGeom>
          <a:noFill/>
          <a:ln w="19050">
            <a:solidFill>
              <a:srgbClr val="23293A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1691640" y="1508760"/>
            <a:ext cx="5120640" cy="530352"/>
          </a:xfrm>
          <a:prstGeom prst="roundRect">
            <a:avLst>
              <a:gd name="adj" fmla="val 15517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920240" y="150876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05840" y="2203704"/>
            <a:ext cx="384048" cy="384048"/>
          </a:xfrm>
          <a:prstGeom prst="ellipse">
            <a:avLst/>
          </a:prstGeom>
          <a:solidFill>
            <a:srgbClr val="12161F"/>
          </a:solidFill>
          <a:ln w="15875">
            <a:solidFill>
              <a:srgbClr val="00F2F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5840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197864" y="2587752"/>
            <a:ext cx="0" cy="548640"/>
          </a:xfrm>
          <a:prstGeom prst="line">
            <a:avLst/>
          </a:prstGeom>
          <a:noFill/>
          <a:ln w="19050">
            <a:solidFill>
              <a:srgbClr val="23293A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1691640" y="2130552"/>
            <a:ext cx="5120640" cy="530352"/>
          </a:xfrm>
          <a:prstGeom prst="roundRect">
            <a:avLst>
              <a:gd name="adj" fmla="val 15517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920240" y="2130552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Analysis &amp; Solution Design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05840" y="2825496"/>
            <a:ext cx="384048" cy="384048"/>
          </a:xfrm>
          <a:prstGeom prst="ellipse">
            <a:avLst/>
          </a:prstGeom>
          <a:solidFill>
            <a:srgbClr val="12161F"/>
          </a:solidFill>
          <a:ln w="15875">
            <a:solidFill>
              <a:srgbClr val="00F2F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0584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197864" y="3209544"/>
            <a:ext cx="0" cy="548640"/>
          </a:xfrm>
          <a:prstGeom prst="line">
            <a:avLst/>
          </a:prstGeom>
          <a:noFill/>
          <a:ln w="19050">
            <a:solidFill>
              <a:srgbClr val="23293A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1691640" y="2752344"/>
            <a:ext cx="5120640" cy="530352"/>
          </a:xfrm>
          <a:prstGeom prst="roundRect">
            <a:avLst>
              <a:gd name="adj" fmla="val 15517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920240" y="275234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005840" y="3447288"/>
            <a:ext cx="384048" cy="384048"/>
          </a:xfrm>
          <a:prstGeom prst="ellipse">
            <a:avLst/>
          </a:prstGeom>
          <a:solidFill>
            <a:srgbClr val="12161F"/>
          </a:solidFill>
          <a:ln w="15875">
            <a:solidFill>
              <a:srgbClr val="00F2F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058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97864" y="3831336"/>
            <a:ext cx="0" cy="548640"/>
          </a:xfrm>
          <a:prstGeom prst="line">
            <a:avLst/>
          </a:prstGeom>
          <a:noFill/>
          <a:ln w="19050">
            <a:solidFill>
              <a:srgbClr val="23293A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1691640" y="3374136"/>
            <a:ext cx="5120640" cy="530352"/>
          </a:xfrm>
          <a:prstGeom prst="roundRect">
            <a:avLst>
              <a:gd name="adj" fmla="val 15517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920240" y="3374136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05840" y="4069080"/>
            <a:ext cx="384048" cy="384048"/>
          </a:xfrm>
          <a:prstGeom prst="ellipse">
            <a:avLst/>
          </a:prstGeom>
          <a:solidFill>
            <a:srgbClr val="12161F"/>
          </a:solidFill>
          <a:ln w="15875">
            <a:solidFill>
              <a:srgbClr val="00F2F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0584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197864" y="4453128"/>
            <a:ext cx="0" cy="548640"/>
          </a:xfrm>
          <a:prstGeom prst="line">
            <a:avLst/>
          </a:prstGeom>
          <a:noFill/>
          <a:ln w="19050">
            <a:solidFill>
              <a:srgbClr val="23293A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>
            <a:off x="1691640" y="3995928"/>
            <a:ext cx="5120640" cy="530352"/>
          </a:xfrm>
          <a:prstGeom prst="roundRect">
            <a:avLst>
              <a:gd name="adj" fmla="val 15517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920240" y="3995928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005840" y="4690872"/>
            <a:ext cx="384048" cy="384048"/>
          </a:xfrm>
          <a:prstGeom prst="ellipse">
            <a:avLst/>
          </a:prstGeom>
          <a:solidFill>
            <a:srgbClr val="12161F"/>
          </a:solidFill>
          <a:ln w="15875">
            <a:solidFill>
              <a:srgbClr val="00F2F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05840" y="4690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1197864" y="5074920"/>
            <a:ext cx="0" cy="548640"/>
          </a:xfrm>
          <a:prstGeom prst="line">
            <a:avLst/>
          </a:prstGeom>
          <a:noFill/>
          <a:ln w="19050">
            <a:solidFill>
              <a:srgbClr val="23293A"/>
            </a:solidFill>
            <a:prstDash val="dash"/>
          </a:ln>
        </p:spPr>
      </p:sp>
      <p:sp>
        <p:nvSpPr>
          <p:cNvPr id="34" name="Shape 31"/>
          <p:cNvSpPr/>
          <p:nvPr/>
        </p:nvSpPr>
        <p:spPr>
          <a:xfrm>
            <a:off x="1691640" y="4617720"/>
            <a:ext cx="5120640" cy="530352"/>
          </a:xfrm>
          <a:prstGeom prst="roundRect">
            <a:avLst>
              <a:gd name="adj" fmla="val 15517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920240" y="4617720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Specifications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005840" y="5312664"/>
            <a:ext cx="384048" cy="384048"/>
          </a:xfrm>
          <a:prstGeom prst="ellipse">
            <a:avLst/>
          </a:prstGeom>
          <a:solidFill>
            <a:srgbClr val="12161F"/>
          </a:solidFill>
          <a:ln w="15875">
            <a:solidFill>
              <a:srgbClr val="00F2F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05840" y="5312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1691640" y="5239512"/>
            <a:ext cx="5120640" cy="530352"/>
          </a:xfrm>
          <a:prstGeom prst="roundRect">
            <a:avLst>
              <a:gd name="adj" fmla="val 15517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920240" y="5239512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600" dirty="0"/>
          </a:p>
        </p:txBody>
      </p:sp>
      <p:pic>
        <p:nvPicPr>
          <p:cNvPr id="40" name="Image 1" descr="C:\Users\aksha\AppData\Local\Temp\claude\C--Users-aksha-OneDrive-Desktop-lumora\de06888c-34aa-446e-90c9-fa434af6838b\scratchpad\college_ppt_build\lumora_mark.png"/>
          <p:cNvPicPr>
            <a:picLocks noChangeAspect="1"/>
          </p:cNvPicPr>
          <p:nvPr/>
        </p:nvPicPr>
        <p:blipFill>
          <a:blip r:embed="rId4">
            <a:alphaModFix amt="18000"/>
          </a:blip>
          <a:stretch>
            <a:fillRect/>
          </a:stretch>
        </p:blipFill>
        <p:spPr>
          <a:xfrm>
            <a:off x="7955280" y="1371600"/>
            <a:ext cx="3749040" cy="3749040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640080" y="6172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Major Project · Department of Computer Science and Engineering · 2025-26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274320"/>
            <a:ext cx="167335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" name="Image 0" descr="C:\Users\aksha\AppData\Local\Temp\claude\C--Users-aksha-OneDrive-Desktop-lumora\de06888c-34aa-446e-90c9-fa434af6838b\scratchpad\college_ppt_build\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296" y="383235"/>
            <a:ext cx="1417320" cy="23937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B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fluent isn't the same as trustworthy.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5212080" cy="2103120"/>
          </a:xfrm>
          <a:prstGeom prst="roundRect">
            <a:avLst>
              <a:gd name="adj" fmla="val 3913"/>
            </a:avLst>
          </a:prstGeom>
          <a:solidFill>
            <a:srgbClr val="12161F"/>
          </a:solidFill>
          <a:ln w="12700">
            <a:solidFill>
              <a:srgbClr val="FFB02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0116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hallucinate despite fluent answers.
</a:t>
            </a:r>
            <a:r>
              <a:rPr lang="en-US" sz="13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RAG retrieves chunks without verifying sufficient question coverage.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60520" y="2889504"/>
            <a:ext cx="146304" cy="292608"/>
          </a:xfrm>
          <a:prstGeom prst="roundRect">
            <a:avLst>
              <a:gd name="adj" fmla="val 12500"/>
            </a:avLst>
          </a:prstGeom>
          <a:solidFill>
            <a:srgbClr val="5C636E"/>
          </a:solidFill>
          <a:ln/>
        </p:spPr>
      </p:sp>
      <p:sp>
        <p:nvSpPr>
          <p:cNvPr id="10" name="Shape 7"/>
          <p:cNvSpPr/>
          <p:nvPr/>
        </p:nvSpPr>
        <p:spPr>
          <a:xfrm>
            <a:off x="4379976" y="2999232"/>
            <a:ext cx="146304" cy="182880"/>
          </a:xfrm>
          <a:prstGeom prst="roundRect">
            <a:avLst>
              <a:gd name="adj" fmla="val 12500"/>
            </a:avLst>
          </a:prstGeom>
          <a:solidFill>
            <a:srgbClr val="5C636E"/>
          </a:solidFill>
          <a:ln/>
        </p:spPr>
      </p:sp>
      <p:sp>
        <p:nvSpPr>
          <p:cNvPr id="11" name="Shape 8"/>
          <p:cNvSpPr/>
          <p:nvPr/>
        </p:nvSpPr>
        <p:spPr>
          <a:xfrm>
            <a:off x="4599432" y="2944368"/>
            <a:ext cx="146304" cy="237744"/>
          </a:xfrm>
          <a:prstGeom prst="roundRect">
            <a:avLst>
              <a:gd name="adj" fmla="val 12500"/>
            </a:avLst>
          </a:prstGeom>
          <a:solidFill>
            <a:srgbClr val="5C636E"/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0" y="2798064"/>
            <a:ext cx="384048" cy="384048"/>
          </a:xfrm>
          <a:prstGeom prst="ellipse">
            <a:avLst/>
          </a:prstGeom>
          <a:solidFill>
            <a:srgbClr val="1A1408"/>
          </a:solidFill>
          <a:ln w="15875">
            <a:solidFill>
              <a:srgbClr val="FFB020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502920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2200" y="1463040"/>
            <a:ext cx="5212080" cy="2103120"/>
          </a:xfrm>
          <a:prstGeom prst="roundRect">
            <a:avLst>
              <a:gd name="adj" fmla="val 3913"/>
            </a:avLst>
          </a:prstGeom>
          <a:solidFill>
            <a:srgbClr val="12161F"/>
          </a:solidFill>
          <a:ln w="12700">
            <a:solidFill>
              <a:srgbClr val="00F2F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00800" y="16642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20116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Lumora checks evidence coverage before selecting grounded or general responses.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answers include citations and traceable source provenance.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Intelligence adds resume-based role fit and gap analysis.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3794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40080" y="411480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12161F"/>
          </a:solidFill>
          <a:ln w="12700">
            <a:solidFill>
              <a:srgbClr val="00F2F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68680" y="4343400"/>
            <a:ext cx="457200" cy="457200"/>
          </a:xfrm>
          <a:prstGeom prst="ellipse">
            <a:avLst/>
          </a:prstGeom>
          <a:solidFill>
            <a:srgbClr val="0E1420"/>
          </a:solidFill>
          <a:ln w="15875">
            <a:solidFill>
              <a:srgbClr val="00F2F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956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Citations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5376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grounded answer traces back to its exact source.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480560" y="411480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12161F"/>
          </a:solidFill>
          <a:ln w="12700">
            <a:solidFill>
              <a:srgbClr val="00D08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09160" y="4343400"/>
            <a:ext cx="457200" cy="457200"/>
          </a:xfrm>
          <a:prstGeom prst="ellipse">
            <a:avLst/>
          </a:prstGeom>
          <a:solidFill>
            <a:srgbClr val="0E1420"/>
          </a:solidFill>
          <a:ln w="15875">
            <a:solidFill>
              <a:srgbClr val="00D08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7091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4956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Intelligence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4754880" y="5376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becomes a skill map, role fit, and gap plan.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321040" y="411480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12161F"/>
          </a:solidFill>
          <a:ln w="12700">
            <a:solidFill>
              <a:srgbClr val="8B7DF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8549640" y="4343400"/>
            <a:ext cx="457200" cy="457200"/>
          </a:xfrm>
          <a:prstGeom prst="ellipse">
            <a:avLst/>
          </a:prstGeom>
          <a:solidFill>
            <a:srgbClr val="0E1420"/>
          </a:solidFill>
          <a:ln w="15875">
            <a:solidFill>
              <a:srgbClr val="8B7DF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5496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595360" y="4956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Customized Learning Path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8595360" y="5376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convert into staged, resource-backed roadmaps.</a:t>
            </a:r>
            <a:endParaRPr lang="en-US" sz="950" dirty="0"/>
          </a:p>
        </p:txBody>
      </p:sp>
      <p:pic>
        <p:nvPicPr>
          <p:cNvPr id="33" name="Image 1" descr="C:\Users\aksha\AppData\Local\Temp\claude\C--Users-aksha-OneDrive-Desktop-lumora\de06888c-34aa-446e-90c9-fa434af6838b\scratchpad\college_ppt_build\lumora_mark.png"/>
          <p:cNvPicPr>
            <a:picLocks noChangeAspect="1"/>
          </p:cNvPicPr>
          <p:nvPr/>
        </p:nvPicPr>
        <p:blipFill>
          <a:blip r:embed="rId4">
            <a:alphaModFix amt="16000"/>
          </a:blip>
          <a:stretch>
            <a:fillRect/>
          </a:stretch>
        </p:blipFill>
        <p:spPr>
          <a:xfrm>
            <a:off x="10881360" y="5943600"/>
            <a:ext cx="777240" cy="777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274320"/>
            <a:ext cx="167335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" name="Image 0" descr="C:\Users\aksha\AppData\Local\Temp\claude\C--Users-aksha-OneDrive-Desktop-lumora\de06888c-34aa-446e-90c9-fa434af6838b\scratchpad\college_ppt_build\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296" y="383235"/>
            <a:ext cx="1417320" cy="23937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Analysis &amp; Solution Design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B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root cause to architectural decision.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5212080" cy="2377440"/>
          </a:xfrm>
          <a:prstGeom prst="roundRect">
            <a:avLst>
              <a:gd name="adj" fmla="val 3462"/>
            </a:avLst>
          </a:prstGeom>
          <a:solidFill>
            <a:srgbClr val="12161F"/>
          </a:solidFill>
          <a:ln w="12700">
            <a:solidFill>
              <a:srgbClr val="FFB02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ANALYSIS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193852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0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AFFECTED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1396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and professionals relying on AI tools for study and career prep.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53288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0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ISSUE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7340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answers with no evidence check, and skill feedback disconnected from action.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12724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E0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33284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learning time, misplaced trust, and no clear next step.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72200" y="1371600"/>
            <a:ext cx="5212080" cy="2377440"/>
          </a:xfrm>
          <a:prstGeom prst="roundRect">
            <a:avLst>
              <a:gd name="adj" fmla="val 3462"/>
            </a:avLst>
          </a:prstGeom>
          <a:solidFill>
            <a:srgbClr val="12161F"/>
          </a:solidFill>
          <a:ln w="12700">
            <a:solidFill>
              <a:srgbClr val="00F2F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00800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1874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2B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“Retrieval finds evidence. Lumora decides if it's enough.”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2468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lexical coverage gate before grounding.</a:t>
            </a:r>
            <a:endParaRPr lang="en-US" sz="100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citation validation — retrieval, construction, persistence.</a:t>
            </a:r>
            <a:endParaRPr lang="en-US" sz="1000" dirty="0"/>
          </a:p>
          <a:p>
            <a:pPr marL="177800" indent="-1778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pipeline powers both chat grounding and skill extraction.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977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CONSIDERED — AND WHY THEY WERE REJECTED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0080" y="4315968"/>
            <a:ext cx="5212080" cy="1691640"/>
          </a:xfrm>
          <a:prstGeom prst="roundRect">
            <a:avLst>
              <a:gd name="adj" fmla="val 4865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868680" y="44805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1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470001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vector-similarity threshold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868680" y="5157216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E0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</a:t>
            </a:r>
            <a:r>
              <a:rPr lang="en-US" sz="9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similarity doesn't guarantee topic coverage — a chunk can be semantically close but miss the actual question.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172200" y="4315968"/>
            <a:ext cx="5212080" cy="1691640"/>
          </a:xfrm>
          <a:prstGeom prst="roundRect">
            <a:avLst>
              <a:gd name="adj" fmla="val 4865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400800" y="44805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2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0" y="470001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Single-layer citation check at generation time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400800" y="5157216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E0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</a:t>
            </a:r>
            <a:r>
              <a:rPr lang="en-US" sz="9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validator can't catch drift between retrieval, construction, and persistence stages — needs defence in depth.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217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B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 are opinionated, not accidental.</a:t>
            </a:r>
            <a:endParaRPr lang="en-US" sz="1150" dirty="0"/>
          </a:p>
        </p:txBody>
      </p:sp>
    </p:spTree>
  </p:cSld>
  <p:clrMapOvr>
    <a:masterClrMapping/>
  </p:clrMapOvr>
  <p:transition spd="slow">
    <p:wheel spokes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274320"/>
            <a:ext cx="167335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" name="Image 0" descr="C:\Users\aksha\AppData\Local\Temp\claude\C--Users-aksha-OneDrive-Desktop-lumora\de06888c-34aa-446e-90c9-fa434af6838b\scratchpad\college_ppt_build\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296" y="383235"/>
            <a:ext cx="1417320" cy="23937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B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foundations, one implementation.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1581912"/>
            <a:ext cx="402336" cy="402336"/>
          </a:xfrm>
          <a:prstGeom prst="ellipse">
            <a:avLst/>
          </a:prstGeom>
          <a:solidFill>
            <a:srgbClr val="0E1420"/>
          </a:solidFill>
          <a:ln w="12700">
            <a:solidFill>
              <a:srgbClr val="4DD8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154533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— Lewis et al. (2020)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929384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context maps to Lumora's grounded generation.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0" y="1417320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01968" y="1581912"/>
            <a:ext cx="402336" cy="402336"/>
          </a:xfrm>
          <a:prstGeom prst="ellipse">
            <a:avLst/>
          </a:prstGeom>
          <a:solidFill>
            <a:srgbClr val="0E1420"/>
          </a:solidFill>
          <a:ln w="12700">
            <a:solidFill>
              <a:srgbClr val="4DD8E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601968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154533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 — Karpukhin et al. (2020)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178040" y="1929384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 maps to embedding-based source search.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" y="2852928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41248" y="3017520"/>
            <a:ext cx="402336" cy="402336"/>
          </a:xfrm>
          <a:prstGeom prst="ellipse">
            <a:avLst/>
          </a:prstGeom>
          <a:solidFill>
            <a:srgbClr val="0E1420"/>
          </a:solidFill>
          <a:ln w="12700">
            <a:solidFill>
              <a:srgbClr val="4DD8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1248" y="3017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2980944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 — Guu et al. (2020)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336499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retrieval informs source-grounded knowledge access.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00800" y="2852928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601968" y="3017520"/>
            <a:ext cx="402336" cy="402336"/>
          </a:xfrm>
          <a:prstGeom prst="ellipse">
            <a:avLst/>
          </a:prstGeom>
          <a:solidFill>
            <a:srgbClr val="0E1420"/>
          </a:solidFill>
          <a:ln w="12700">
            <a:solidFill>
              <a:srgbClr val="4DD8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01968" y="3017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7178040" y="2980944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— Johnson et al. (2019)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7178040" y="3364992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Similarity-search methods inform Lumora's vector retrieval design.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40080" y="4288536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41248" y="4453128"/>
            <a:ext cx="402336" cy="402336"/>
          </a:xfrm>
          <a:prstGeom prst="ellipse">
            <a:avLst/>
          </a:prstGeom>
          <a:solidFill>
            <a:srgbClr val="0E1420"/>
          </a:solidFill>
          <a:ln w="12700">
            <a:solidFill>
              <a:srgbClr val="4DD8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1248" y="4453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1417320" y="441655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Embeddings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1417320" y="480060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and query vectors enable semantic similarity search.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400800" y="4288536"/>
            <a:ext cx="5486400" cy="1234440"/>
          </a:xfrm>
          <a:prstGeom prst="roundRect">
            <a:avLst>
              <a:gd name="adj" fmla="val 6667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601968" y="4453128"/>
            <a:ext cx="402336" cy="402336"/>
          </a:xfrm>
          <a:prstGeom prst="ellipse">
            <a:avLst/>
          </a:prstGeom>
          <a:solidFill>
            <a:srgbClr val="0E1420"/>
          </a:solidFill>
          <a:ln w="12700">
            <a:solidFill>
              <a:srgbClr val="4DD8E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601968" y="4453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7178040" y="441655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7178040" y="480060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embeddings in Postgres and executes nearest-neighbor retrieval.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22960" y="6044184"/>
            <a:ext cx="6492240" cy="0"/>
          </a:xfrm>
          <a:prstGeom prst="line">
            <a:avLst/>
          </a:prstGeom>
          <a:noFill/>
          <a:ln w="15875">
            <a:solidFill>
              <a:srgbClr val="23293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85800" y="5907024"/>
            <a:ext cx="274320" cy="274320"/>
          </a:xfrm>
          <a:prstGeom prst="ellipse">
            <a:avLst/>
          </a:prstGeom>
          <a:solidFill>
            <a:srgbClr val="0E1420"/>
          </a:solidFill>
          <a:ln w="12700">
            <a:solidFill>
              <a:srgbClr val="4DD8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85800" y="5907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1984248" y="5907024"/>
            <a:ext cx="274320" cy="274320"/>
          </a:xfrm>
          <a:prstGeom prst="ellipse">
            <a:avLst/>
          </a:prstGeom>
          <a:solidFill>
            <a:srgbClr val="0E1420"/>
          </a:solidFill>
          <a:ln w="12700">
            <a:solidFill>
              <a:srgbClr val="4DD8E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984248" y="5907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3282696" y="5907024"/>
            <a:ext cx="274320" cy="274320"/>
          </a:xfrm>
          <a:prstGeom prst="ellipse">
            <a:avLst/>
          </a:prstGeom>
          <a:solidFill>
            <a:srgbClr val="0E1420"/>
          </a:solidFill>
          <a:ln w="12700">
            <a:solidFill>
              <a:srgbClr val="4DD8E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282696" y="5907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50" dirty="0"/>
          </a:p>
        </p:txBody>
      </p:sp>
      <p:sp>
        <p:nvSpPr>
          <p:cNvPr id="43" name="Shape 40"/>
          <p:cNvSpPr/>
          <p:nvPr/>
        </p:nvSpPr>
        <p:spPr>
          <a:xfrm>
            <a:off x="4581144" y="5907024"/>
            <a:ext cx="274320" cy="274320"/>
          </a:xfrm>
          <a:prstGeom prst="ellipse">
            <a:avLst/>
          </a:prstGeom>
          <a:solidFill>
            <a:srgbClr val="0E1420"/>
          </a:solidFill>
          <a:ln w="12700">
            <a:solidFill>
              <a:srgbClr val="4DD8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581144" y="5907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5879592" y="5907024"/>
            <a:ext cx="274320" cy="274320"/>
          </a:xfrm>
          <a:prstGeom prst="ellipse">
            <a:avLst/>
          </a:prstGeom>
          <a:solidFill>
            <a:srgbClr val="0E1420"/>
          </a:solidFill>
          <a:ln w="12700">
            <a:solidFill>
              <a:srgbClr val="4DD8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879592" y="5907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50" dirty="0"/>
          </a:p>
        </p:txBody>
      </p:sp>
      <p:sp>
        <p:nvSpPr>
          <p:cNvPr id="47" name="Shape 44"/>
          <p:cNvSpPr/>
          <p:nvPr/>
        </p:nvSpPr>
        <p:spPr>
          <a:xfrm>
            <a:off x="7178040" y="5907024"/>
            <a:ext cx="274320" cy="274320"/>
          </a:xfrm>
          <a:prstGeom prst="ellipse">
            <a:avLst/>
          </a:prstGeom>
          <a:solidFill>
            <a:srgbClr val="0E1420"/>
          </a:solidFill>
          <a:ln w="12700">
            <a:solidFill>
              <a:srgbClr val="4DD8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178040" y="5907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50" dirty="0"/>
          </a:p>
        </p:txBody>
      </p:sp>
      <p:sp>
        <p:nvSpPr>
          <p:cNvPr id="49" name="Text 46"/>
          <p:cNvSpPr txBox="1"/>
          <p:nvPr/>
        </p:nvSpPr>
        <p:spPr>
          <a:xfrm>
            <a:off x="7479792" y="587792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50" name="Shape 47"/>
          <p:cNvSpPr/>
          <p:nvPr/>
        </p:nvSpPr>
        <p:spPr>
          <a:xfrm>
            <a:off x="8001000" y="5696712"/>
            <a:ext cx="3566160" cy="694944"/>
          </a:xfrm>
          <a:prstGeom prst="roundRect">
            <a:avLst>
              <a:gd name="adj" fmla="val 11842"/>
            </a:avLst>
          </a:prstGeom>
          <a:solidFill>
            <a:srgbClr val="12161F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001000" y="569671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Lumora Retrieval Layer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274320"/>
            <a:ext cx="167335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" name="Image 0" descr="C:\Users\aksha\AppData\Local\Temp\claude\C--Users-aksha-OneDrive-Desktop-lumora\de06888c-34aa-446e-90c9-fa434af6838b\scratchpad\college_ppt_build\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296" y="383235"/>
            <a:ext cx="1417320" cy="23937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B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precise gaps, all solved in the codebase.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50876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12161F"/>
          </a:solidFill>
          <a:ln w="12700">
            <a:solidFill>
              <a:srgbClr val="FFB02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17099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2860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Sufficiency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880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are commonly accepted without verifying actual question coverage.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00300" y="3749040"/>
            <a:ext cx="0" cy="292608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822960" y="4133088"/>
            <a:ext cx="3154680" cy="914400"/>
          </a:xfrm>
          <a:prstGeom prst="roundRect">
            <a:avLst>
              <a:gd name="adj" fmla="val 9000"/>
            </a:avLst>
          </a:prstGeom>
          <a:solidFill>
            <a:srgbClr val="141A0F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5840" y="422452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4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LUMORA FIX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447141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Lumora applies a lexical coverage gate before grounding.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16552" y="150876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12161F"/>
          </a:solidFill>
          <a:ln w="12700">
            <a:solidFill>
              <a:srgbClr val="FFB02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645152" y="17099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4645152" y="22860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Provenance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4645152" y="2880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text splitting can fragment or drop multimedia timestamps.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76772" y="3749040"/>
            <a:ext cx="0" cy="292608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599432" y="4133088"/>
            <a:ext cx="3154680" cy="914400"/>
          </a:xfrm>
          <a:prstGeom prst="roundRect">
            <a:avLst>
              <a:gd name="adj" fmla="val 9000"/>
            </a:avLst>
          </a:prstGeom>
          <a:solidFill>
            <a:srgbClr val="141A0F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782312" y="422452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4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LUMORA FIX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4782312" y="447141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Lumora preserves timestamp provenance through chunking and citation.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193024" y="1508760"/>
            <a:ext cx="3520440" cy="4023360"/>
          </a:xfrm>
          <a:prstGeom prst="roundRect">
            <a:avLst>
              <a:gd name="adj" fmla="val 2338"/>
            </a:avLst>
          </a:prstGeom>
          <a:solidFill>
            <a:srgbClr val="12161F"/>
          </a:solidFill>
          <a:ln w="12700">
            <a:solidFill>
              <a:srgbClr val="FFB02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8421624" y="17099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8421624" y="22860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Learning Systems</a:t>
            </a:r>
            <a:endParaRPr lang="en-US" sz="1450" dirty="0"/>
          </a:p>
        </p:txBody>
      </p:sp>
      <p:sp>
        <p:nvSpPr>
          <p:cNvPr id="25" name="Text 22"/>
          <p:cNvSpPr txBox="1"/>
          <p:nvPr/>
        </p:nvSpPr>
        <p:spPr>
          <a:xfrm>
            <a:off x="8421624" y="2880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Personal-source grounding and structured career-gap analysis usually remain separate.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953244" y="3749040"/>
            <a:ext cx="0" cy="292608"/>
          </a:xfrm>
          <a:prstGeom prst="line">
            <a:avLst/>
          </a:prstGeom>
          <a:noFill/>
          <a:ln w="19050">
            <a:solidFill>
              <a:srgbClr val="FFB020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8375904" y="4133088"/>
            <a:ext cx="3154680" cy="914400"/>
          </a:xfrm>
          <a:prstGeom prst="roundRect">
            <a:avLst>
              <a:gd name="adj" fmla="val 9000"/>
            </a:avLst>
          </a:prstGeom>
          <a:solidFill>
            <a:srgbClr val="141A0F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558784" y="422452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4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LUMORA FIX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8558784" y="447141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Lumora combines both inside one workspace.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B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gaps map directly to Lumora's grounding, chunking, and workspace architecture.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274320"/>
            <a:ext cx="167335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" name="Image 0" descr="C:\Users\aksha\AppData\Local\Temp\claude\C--Users-aksha-OneDrive-Desktop-lumora\de06888c-34aa-446e-90c9-fa434af6838b\scratchpad\college_ppt_build\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296" y="383235"/>
            <a:ext cx="1417320" cy="23937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B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system: ingest, ground, and grow skills.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280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1691640" cy="777240"/>
          </a:xfrm>
          <a:prstGeom prst="roundRect">
            <a:avLst>
              <a:gd name="adj" fmla="val 10588"/>
            </a:avLst>
          </a:prstGeom>
          <a:solidFill>
            <a:srgbClr val="12161F"/>
          </a:solidFill>
          <a:ln w="12700">
            <a:solidFill>
              <a:srgbClr val="00F2F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0080" y="16550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91109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PDF/YouTube/Web/Text/CV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2350008" y="1776845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834640" y="1600200"/>
            <a:ext cx="1691640" cy="777240"/>
          </a:xfrm>
          <a:prstGeom prst="roundRect">
            <a:avLst>
              <a:gd name="adj" fmla="val 10588"/>
            </a:avLst>
          </a:prstGeom>
          <a:solidFill>
            <a:srgbClr val="12161F"/>
          </a:solidFill>
          <a:ln w="12700">
            <a:solidFill>
              <a:srgbClr val="00F2F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834640" y="16550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2834640" y="191109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units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4544568" y="1776845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029200" y="1600200"/>
            <a:ext cx="1691640" cy="777240"/>
          </a:xfrm>
          <a:prstGeom prst="roundRect">
            <a:avLst>
              <a:gd name="adj" fmla="val 10588"/>
            </a:avLst>
          </a:prstGeom>
          <a:solidFill>
            <a:srgbClr val="12161F"/>
          </a:solidFill>
          <a:ln w="12700">
            <a:solidFill>
              <a:srgbClr val="00F2F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029200" y="16550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5029200" y="191109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1536-dim vectors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6739128" y="1776845"/>
            <a:ext cx="466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7223760" y="1600200"/>
            <a:ext cx="1691640" cy="777240"/>
          </a:xfrm>
          <a:prstGeom prst="roundRect">
            <a:avLst>
              <a:gd name="adj" fmla="val 10588"/>
            </a:avLst>
          </a:prstGeom>
          <a:solidFill>
            <a:srgbClr val="12161F"/>
          </a:solidFill>
          <a:ln w="12700">
            <a:solidFill>
              <a:srgbClr val="00F2F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223760" y="165506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7223760" y="191109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store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2743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B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/ GROUNDING PIPELINE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40080" y="3063240"/>
            <a:ext cx="1371600" cy="777240"/>
          </a:xfrm>
          <a:prstGeom prst="roundRect">
            <a:avLst>
              <a:gd name="adj" fmla="val 10588"/>
            </a:avLst>
          </a:prstGeom>
          <a:solidFill>
            <a:srgbClr val="12161F"/>
          </a:solidFill>
          <a:ln w="12700">
            <a:solidFill>
              <a:srgbClr val="8B7DF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40080" y="3118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33741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2039112" y="3331325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2331720" y="3063240"/>
            <a:ext cx="1371600" cy="777240"/>
          </a:xfrm>
          <a:prstGeom prst="roundRect">
            <a:avLst>
              <a:gd name="adj" fmla="val 10588"/>
            </a:avLst>
          </a:prstGeom>
          <a:solidFill>
            <a:srgbClr val="12161F"/>
          </a:solidFill>
          <a:ln w="12700">
            <a:solidFill>
              <a:srgbClr val="8B7DF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2331720" y="3118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2331720" y="33741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topK retrieval</a:t>
            </a:r>
            <a:endParaRPr lang="en-US" sz="700" dirty="0"/>
          </a:p>
        </p:txBody>
      </p:sp>
      <p:sp>
        <p:nvSpPr>
          <p:cNvPr id="30" name="Text 27"/>
          <p:cNvSpPr txBox="1"/>
          <p:nvPr/>
        </p:nvSpPr>
        <p:spPr>
          <a:xfrm>
            <a:off x="3730752" y="3331325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>
            <a:off x="4023360" y="3063240"/>
            <a:ext cx="1371600" cy="777240"/>
          </a:xfrm>
          <a:prstGeom prst="roundRect">
            <a:avLst>
              <a:gd name="adj" fmla="val 10588"/>
            </a:avLst>
          </a:prstGeom>
          <a:solidFill>
            <a:srgbClr val="12161F"/>
          </a:solidFill>
          <a:ln w="12700">
            <a:solidFill>
              <a:srgbClr val="8B7DF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4023360" y="3118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Gate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4023360" y="33741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check</a:t>
            </a:r>
            <a:endParaRPr lang="en-US" sz="700" dirty="0"/>
          </a:p>
        </p:txBody>
      </p:sp>
      <p:sp>
        <p:nvSpPr>
          <p:cNvPr id="34" name="Text 31"/>
          <p:cNvSpPr txBox="1"/>
          <p:nvPr/>
        </p:nvSpPr>
        <p:spPr>
          <a:xfrm>
            <a:off x="5422392" y="3331325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5" name="Shape 32"/>
          <p:cNvSpPr/>
          <p:nvPr/>
        </p:nvSpPr>
        <p:spPr>
          <a:xfrm>
            <a:off x="5715000" y="3063240"/>
            <a:ext cx="1371600" cy="777240"/>
          </a:xfrm>
          <a:prstGeom prst="roundRect">
            <a:avLst>
              <a:gd name="adj" fmla="val 10588"/>
            </a:avLst>
          </a:prstGeom>
          <a:solidFill>
            <a:srgbClr val="12161F"/>
          </a:solidFill>
          <a:ln w="12700">
            <a:solidFill>
              <a:srgbClr val="8B7DF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5715000" y="3118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5715000" y="33741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/ GENERAL</a:t>
            </a:r>
            <a:endParaRPr lang="en-US" sz="700" dirty="0"/>
          </a:p>
        </p:txBody>
      </p:sp>
      <p:sp>
        <p:nvSpPr>
          <p:cNvPr id="38" name="Text 35"/>
          <p:cNvSpPr txBox="1"/>
          <p:nvPr/>
        </p:nvSpPr>
        <p:spPr>
          <a:xfrm>
            <a:off x="7114032" y="3331325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9" name="Shape 36"/>
          <p:cNvSpPr/>
          <p:nvPr/>
        </p:nvSpPr>
        <p:spPr>
          <a:xfrm>
            <a:off x="7406640" y="3063240"/>
            <a:ext cx="1371600" cy="777240"/>
          </a:xfrm>
          <a:prstGeom prst="roundRect">
            <a:avLst>
              <a:gd name="adj" fmla="val 10588"/>
            </a:avLst>
          </a:prstGeom>
          <a:solidFill>
            <a:srgbClr val="12161F"/>
          </a:solidFill>
          <a:ln w="12700">
            <a:solidFill>
              <a:srgbClr val="8B7DF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7406640" y="3118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7406640" y="33741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trail</a:t>
            </a:r>
            <a:endParaRPr lang="en-US" sz="700" dirty="0"/>
          </a:p>
        </p:txBody>
      </p:sp>
      <p:sp>
        <p:nvSpPr>
          <p:cNvPr id="42" name="Text 39"/>
          <p:cNvSpPr txBox="1"/>
          <p:nvPr/>
        </p:nvSpPr>
        <p:spPr>
          <a:xfrm>
            <a:off x="9052560" y="1280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INTELLIGENCE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9052560" y="1600200"/>
            <a:ext cx="2468880" cy="4251960"/>
          </a:xfrm>
          <a:prstGeom prst="roundRect">
            <a:avLst>
              <a:gd name="adj" fmla="val 3333"/>
            </a:avLst>
          </a:prstGeom>
          <a:solidFill>
            <a:srgbClr val="12161F"/>
          </a:solidFill>
          <a:ln w="12700">
            <a:solidFill>
              <a:srgbClr val="00D08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9281160" y="1828800"/>
            <a:ext cx="2011680" cy="502920"/>
          </a:xfrm>
          <a:prstGeom prst="roundRect">
            <a:avLst>
              <a:gd name="adj" fmla="val 12727"/>
            </a:avLst>
          </a:prstGeom>
          <a:solidFill>
            <a:srgbClr val="0E1710"/>
          </a:solidFill>
          <a:ln w="12700">
            <a:solidFill>
              <a:srgbClr val="64FFA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281160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9281160" y="2331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9281160" y="2587752"/>
            <a:ext cx="2011680" cy="502920"/>
          </a:xfrm>
          <a:prstGeom prst="roundRect">
            <a:avLst>
              <a:gd name="adj" fmla="val 12727"/>
            </a:avLst>
          </a:prstGeom>
          <a:solidFill>
            <a:srgbClr val="0E1710"/>
          </a:solidFill>
          <a:ln w="12700">
            <a:solidFill>
              <a:srgbClr val="64FFA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281160" y="25877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9281160" y="3090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9281160" y="3346704"/>
            <a:ext cx="2011680" cy="502920"/>
          </a:xfrm>
          <a:prstGeom prst="roundRect">
            <a:avLst>
              <a:gd name="adj" fmla="val 12727"/>
            </a:avLst>
          </a:prstGeom>
          <a:solidFill>
            <a:srgbClr val="0E1710"/>
          </a:solidFill>
          <a:ln w="12700">
            <a:solidFill>
              <a:srgbClr val="64FFA0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9281160" y="334670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fit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9281160" y="38496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9281160" y="4105656"/>
            <a:ext cx="2011680" cy="502920"/>
          </a:xfrm>
          <a:prstGeom prst="roundRect">
            <a:avLst>
              <a:gd name="adj" fmla="val 12727"/>
            </a:avLst>
          </a:prstGeom>
          <a:solidFill>
            <a:srgbClr val="0E1710"/>
          </a:solidFill>
          <a:ln w="12700">
            <a:solidFill>
              <a:srgbClr val="64FFA0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281160" y="410565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9281160" y="46085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9281160" y="4864608"/>
            <a:ext cx="2011680" cy="502920"/>
          </a:xfrm>
          <a:prstGeom prst="roundRect">
            <a:avLst>
              <a:gd name="adj" fmla="val 12727"/>
            </a:avLst>
          </a:prstGeom>
          <a:solidFill>
            <a:srgbClr val="0E1710"/>
          </a:solidFill>
          <a:ln w="12700">
            <a:solidFill>
              <a:srgbClr val="64FFA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9281160" y="486460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8796528" y="334379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59" name="Text 56"/>
          <p:cNvSpPr txBox="1"/>
          <p:nvPr/>
        </p:nvSpPr>
        <p:spPr>
          <a:xfrm>
            <a:off x="8686800" y="35981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</a:t>
            </a:r>
            <a:endParaRPr lang="en-US" sz="650" dirty="0"/>
          </a:p>
        </p:txBody>
      </p:sp>
      <p:sp>
        <p:nvSpPr>
          <p:cNvPr id="60" name="Text 57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B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pipelines and Skill Intelligence share the same source, chunk, and citation model.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274320"/>
            <a:ext cx="167335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" name="Image 0" descr="C:\Users\aksha\AppData\Local\Temp\claude\C--Users-aksha-OneDrive-Desktop-lumora\de06888c-34aa-446e-90c9-fa434af6838b\scratchpad\college_ppt_build\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296" y="383235"/>
            <a:ext cx="1417320" cy="23937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Specifications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B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stack behind every claim in this deck.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7955280" cy="457200"/>
          </a:xfrm>
          <a:prstGeom prst="rect">
            <a:avLst/>
          </a:prstGeom>
          <a:solidFill>
            <a:srgbClr val="12161F">
              <a:alpha val="6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85800" y="1559052"/>
            <a:ext cx="82296" cy="82296"/>
          </a:xfrm>
          <a:prstGeom prst="ellipse">
            <a:avLst/>
          </a:prstGeom>
          <a:solidFill>
            <a:srgbClr val="00F2F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1371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/ Stack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291840" y="13716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full-stack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" y="2016252"/>
            <a:ext cx="82296" cy="82296"/>
          </a:xfrm>
          <a:prstGeom prst="ellipse">
            <a:avLst/>
          </a:prstGeom>
          <a:solidFill>
            <a:srgbClr val="00F2F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440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1828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 ·  Vite  ·  Tailwind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2286000"/>
            <a:ext cx="7955280" cy="457200"/>
          </a:xfrm>
          <a:prstGeom prst="rect">
            <a:avLst/>
          </a:prstGeom>
          <a:solidFill>
            <a:srgbClr val="12161F">
              <a:alpha val="6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85800" y="2473452"/>
            <a:ext cx="82296" cy="82296"/>
          </a:xfrm>
          <a:prstGeom prst="ellipse">
            <a:avLst/>
          </a:prstGeom>
          <a:solidFill>
            <a:srgbClr val="00F2F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3291840" y="2286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 ·  Prisma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85800" y="2930652"/>
            <a:ext cx="82296" cy="82296"/>
          </a:xfrm>
          <a:prstGeom prst="ellipse">
            <a:avLst/>
          </a:prstGeom>
          <a:solidFill>
            <a:srgbClr val="8B7DF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3291840" y="2743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 + pgvector  ·  1536-dim embeddings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" y="3200400"/>
            <a:ext cx="7955280" cy="457200"/>
          </a:xfrm>
          <a:prstGeom prst="rect">
            <a:avLst/>
          </a:prstGeom>
          <a:solidFill>
            <a:srgbClr val="12161F">
              <a:alpha val="6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85800" y="3387852"/>
            <a:ext cx="82296" cy="82296"/>
          </a:xfrm>
          <a:prstGeom prst="ellipse">
            <a:avLst/>
          </a:prstGeom>
          <a:solidFill>
            <a:srgbClr val="8B7DF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1440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Providers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3291840" y="3200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 ·  Gemini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85800" y="3845052"/>
            <a:ext cx="82296" cy="82296"/>
          </a:xfrm>
          <a:prstGeom prst="ellipse">
            <a:avLst/>
          </a:prstGeom>
          <a:solidFill>
            <a:srgbClr val="00D084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1440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3291840" y="36576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0080" y="4114800"/>
            <a:ext cx="7955280" cy="457200"/>
          </a:xfrm>
          <a:prstGeom prst="rect">
            <a:avLst/>
          </a:prstGeom>
          <a:solidFill>
            <a:srgbClr val="12161F">
              <a:alpha val="6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85800" y="4302252"/>
            <a:ext cx="82296" cy="82296"/>
          </a:xfrm>
          <a:prstGeom prst="ellipse">
            <a:avLst/>
          </a:prstGeom>
          <a:solidFill>
            <a:srgbClr val="00D084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1440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3291840" y="4114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frontend  ·  Render backend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85800" y="4759452"/>
            <a:ext cx="82296" cy="82296"/>
          </a:xfrm>
          <a:prstGeom prst="ellipse">
            <a:avLst/>
          </a:prstGeom>
          <a:solidFill>
            <a:srgbClr val="00D084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14400" y="4572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3291840" y="4572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91540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ARCHITECTURE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915400" y="1783080"/>
            <a:ext cx="2743200" cy="548640"/>
          </a:xfrm>
          <a:prstGeom prst="roundRect">
            <a:avLst>
              <a:gd name="adj" fmla="val 15000"/>
            </a:avLst>
          </a:prstGeom>
          <a:solidFill>
            <a:srgbClr val="12161F"/>
          </a:solidFill>
          <a:ln w="12700">
            <a:solidFill>
              <a:srgbClr val="00F2F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8915400" y="1837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8915400" y="20939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8915400" y="2331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8915400" y="2560320"/>
            <a:ext cx="2743200" cy="548640"/>
          </a:xfrm>
          <a:prstGeom prst="roundRect">
            <a:avLst>
              <a:gd name="adj" fmla="val 15000"/>
            </a:avLst>
          </a:prstGeom>
          <a:solidFill>
            <a:srgbClr val="12161F"/>
          </a:solidFill>
          <a:ln w="12700">
            <a:solidFill>
              <a:srgbClr val="00F2F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8915400" y="2615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8915400" y="28712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2" name="Text 39"/>
          <p:cNvSpPr txBox="1"/>
          <p:nvPr/>
        </p:nvSpPr>
        <p:spPr>
          <a:xfrm>
            <a:off x="8915400" y="3108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8915400" y="3337560"/>
            <a:ext cx="2743200" cy="548640"/>
          </a:xfrm>
          <a:prstGeom prst="roundRect">
            <a:avLst>
              <a:gd name="adj" fmla="val 15000"/>
            </a:avLst>
          </a:prstGeom>
          <a:solidFill>
            <a:srgbClr val="12161F"/>
          </a:solidFill>
          <a:ln w="12700">
            <a:solidFill>
              <a:srgbClr val="00F2F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8915400" y="33924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8915400" y="36484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8915400" y="3886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8915400" y="4114800"/>
            <a:ext cx="2743200" cy="548640"/>
          </a:xfrm>
          <a:prstGeom prst="roundRect">
            <a:avLst>
              <a:gd name="adj" fmla="val 15000"/>
            </a:avLst>
          </a:prstGeom>
          <a:solidFill>
            <a:srgbClr val="12161F"/>
          </a:solidFill>
          <a:ln w="12700">
            <a:solidFill>
              <a:srgbClr val="00F2FE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8" name="Text 45"/>
          <p:cNvSpPr txBox="1"/>
          <p:nvPr/>
        </p:nvSpPr>
        <p:spPr>
          <a:xfrm>
            <a:off x="8915400" y="4169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PG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8915400" y="44256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0" name="Text 47"/>
          <p:cNvSpPr txBox="1"/>
          <p:nvPr/>
        </p:nvSpPr>
        <p:spPr>
          <a:xfrm>
            <a:off x="8915400" y="4983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Gemini branch from Render backend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640080" y="58064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40080" y="5806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1956816" y="58064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956816" y="5806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3273552" y="58064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3273552" y="5806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4590288" y="58064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4590288" y="5806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5907024" y="58064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5907024" y="5806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7223760" y="58064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7223760" y="5806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274320"/>
            <a:ext cx="167335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" name="Image 0" descr="C:\Users\aksha\AppData\Local\Temp\claude\C--Users-aksha-OneDrive-Desktop-lumora\de06888c-34aa-446e-90c9-fa434af6838b\scratchpad\college_ppt_build\colle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296" y="383235"/>
            <a:ext cx="1417320" cy="23937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B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technical claim, traced to its source.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23444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" y="13441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3258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Lewis, P., et al. (2020).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349240" y="1362456"/>
            <a:ext cx="594360" cy="237744"/>
          </a:xfrm>
          <a:prstGeom prst="roundRect">
            <a:avLst>
              <a:gd name="adj" fmla="val 50000"/>
            </a:avLst>
          </a:prstGeom>
          <a:ln w="12700">
            <a:solidFill>
              <a:srgbClr val="4DD8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49240" y="136245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1691640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for Knowledge-Intensive NLP Tasks. NeurIPS 33.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400800" y="123444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65392" y="13441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086600" y="13258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Karpukhin, V., et al. (2020).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1109960" y="1362456"/>
            <a:ext cx="594360" cy="237744"/>
          </a:xfrm>
          <a:prstGeom prst="roundRect">
            <a:avLst>
              <a:gd name="adj" fmla="val 50000"/>
            </a:avLst>
          </a:prstGeom>
          <a:ln w="12700">
            <a:solidFill>
              <a:srgbClr val="4DD8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109960" y="136245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650" dirty="0"/>
          </a:p>
        </p:txBody>
      </p:sp>
      <p:sp>
        <p:nvSpPr>
          <p:cNvPr id="17" name="Text 14"/>
          <p:cNvSpPr txBox="1"/>
          <p:nvPr/>
        </p:nvSpPr>
        <p:spPr>
          <a:xfrm>
            <a:off x="7086600" y="1691640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Passage Retrieval for Open-Domain QA. EMNLP 2020. DOI: 10.18653/v1/2020.emnlp-main.550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40080" y="2542032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4672" y="2651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26334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Guu, K., et al. (2020).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349240" y="2670048"/>
            <a:ext cx="594360" cy="237744"/>
          </a:xfrm>
          <a:prstGeom prst="roundRect">
            <a:avLst>
              <a:gd name="adj" fmla="val 50000"/>
            </a:avLst>
          </a:prstGeom>
          <a:ln w="12700">
            <a:solidFill>
              <a:srgbClr val="4DD8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349240" y="267004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65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2999232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REALM: Retrieval-Augmented Language Model Pre-Training. ICML 2020.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400800" y="2542032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65392" y="2651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086600" y="26334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Johnson, J., Douze, M., Jégou, H. (2019).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11109960" y="2670048"/>
            <a:ext cx="594360" cy="237744"/>
          </a:xfrm>
          <a:prstGeom prst="roundRect">
            <a:avLst>
              <a:gd name="adj" fmla="val 50000"/>
            </a:avLst>
          </a:prstGeom>
          <a:ln w="12700">
            <a:solidFill>
              <a:srgbClr val="4DD8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109960" y="267004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650" dirty="0"/>
          </a:p>
        </p:txBody>
      </p:sp>
      <p:sp>
        <p:nvSpPr>
          <p:cNvPr id="29" name="Text 26"/>
          <p:cNvSpPr txBox="1"/>
          <p:nvPr/>
        </p:nvSpPr>
        <p:spPr>
          <a:xfrm>
            <a:off x="7086600" y="2999232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Billion-Scale Similarity Search with GPUs. IEEE TBD. DOI: 10.1109/TBDATA.2019.2921572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40080" y="3849624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04672" y="39593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1325880" y="394106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349240" y="3977640"/>
            <a:ext cx="594360" cy="237744"/>
          </a:xfrm>
          <a:prstGeom prst="roundRect">
            <a:avLst>
              <a:gd name="adj" fmla="val 50000"/>
            </a:avLst>
          </a:prstGeom>
          <a:ln w="12700">
            <a:solidFill>
              <a:srgbClr val="64FFA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349240" y="397764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64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650" dirty="0"/>
          </a:p>
        </p:txBody>
      </p:sp>
      <p:sp>
        <p:nvSpPr>
          <p:cNvPr id="35" name="Text 32"/>
          <p:cNvSpPr txBox="1"/>
          <p:nvPr/>
        </p:nvSpPr>
        <p:spPr>
          <a:xfrm>
            <a:off x="1325880" y="4306824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— OpenAI API Documentation.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400800" y="3849624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565392" y="39593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7086600" y="394106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11109960" y="3977640"/>
            <a:ext cx="594360" cy="237744"/>
          </a:xfrm>
          <a:prstGeom prst="roundRect">
            <a:avLst>
              <a:gd name="adj" fmla="val 50000"/>
            </a:avLst>
          </a:prstGeom>
          <a:ln w="12700">
            <a:solidFill>
              <a:srgbClr val="64FFA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109960" y="397764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64F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650" dirty="0"/>
          </a:p>
        </p:txBody>
      </p:sp>
      <p:sp>
        <p:nvSpPr>
          <p:cNvPr id="41" name="Text 38"/>
          <p:cNvSpPr txBox="1"/>
          <p:nvPr/>
        </p:nvSpPr>
        <p:spPr>
          <a:xfrm>
            <a:off x="7086600" y="4306824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vector similarity search for Postgres. Official documentation.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40080" y="5157216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04672" y="52669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1325880" y="524865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Malkov, Y.A., Yashunin, D.A. (2020).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5349240" y="5285232"/>
            <a:ext cx="594360" cy="237744"/>
          </a:xfrm>
          <a:prstGeom prst="roundRect">
            <a:avLst>
              <a:gd name="adj" fmla="val 50000"/>
            </a:avLst>
          </a:prstGeom>
          <a:ln w="12700">
            <a:solidFill>
              <a:srgbClr val="4DD8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349240" y="52852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650" dirty="0"/>
          </a:p>
        </p:txBody>
      </p:sp>
      <p:sp>
        <p:nvSpPr>
          <p:cNvPr id="47" name="Text 44"/>
          <p:cNvSpPr txBox="1"/>
          <p:nvPr/>
        </p:nvSpPr>
        <p:spPr>
          <a:xfrm>
            <a:off x="1325880" y="5614416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and Robust ANN Search Using HNSW Graphs. IEEE TPAMI 42(4), 824–836. DOI: 10.1109/TPAMI.2018.2889473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6400800" y="5157216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12161F"/>
          </a:solidFill>
          <a:ln w="12700">
            <a:solidFill>
              <a:srgbClr val="23293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565392" y="52669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7086600" y="524865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Ji, Z., et al. (2023).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11109960" y="5285232"/>
            <a:ext cx="594360" cy="237744"/>
          </a:xfrm>
          <a:prstGeom prst="roundRect">
            <a:avLst>
              <a:gd name="adj" fmla="val 50000"/>
            </a:avLst>
          </a:prstGeom>
          <a:ln w="12700">
            <a:solidFill>
              <a:srgbClr val="4DD8E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1109960" y="52852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00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650" dirty="0"/>
          </a:p>
        </p:txBody>
      </p:sp>
      <p:sp>
        <p:nvSpPr>
          <p:cNvPr id="53" name="Text 50"/>
          <p:cNvSpPr txBox="1"/>
          <p:nvPr/>
        </p:nvSpPr>
        <p:spPr>
          <a:xfrm>
            <a:off x="7086600" y="5614416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Hallucination in Natural Language Generation. ACM Computing Surveys 55(12). DOI: 10.1145/3571730</a:t>
            </a:r>
            <a:endParaRPr lang="en-US" sz="850" dirty="0"/>
          </a:p>
        </p:txBody>
      </p:sp>
      <p:pic>
        <p:nvPicPr>
          <p:cNvPr id="54" name="Image 1" descr="C:\Users\aksha\AppData\Local\Temp\claude\C--Users-aksha-OneDrive-Desktop-lumora\de06888c-34aa-446e-90c9-fa434af6838b\scratchpad\college_ppt_build\lumora_mark.png"/>
          <p:cNvPicPr>
            <a:picLocks noChangeAspect="1"/>
          </p:cNvPicPr>
          <p:nvPr/>
        </p:nvPicPr>
        <p:blipFill>
          <a:blip r:embed="rId4">
            <a:alphaModFix amt="15000"/>
          </a:blip>
          <a:stretch>
            <a:fillRect/>
          </a:stretch>
        </p:blipFill>
        <p:spPr>
          <a:xfrm>
            <a:off x="11109960" y="6382512"/>
            <a:ext cx="45720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996</Words>
  <Application>Microsoft Office PowerPoint</Application>
  <PresentationFormat>Widescreen</PresentationFormat>
  <Paragraphs>237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Lumora AI</dc:creator>
  <cp:lastModifiedBy>AKSHAY KRISHNA</cp:lastModifiedBy>
  <cp:revision>2</cp:revision>
  <dcterms:created xsi:type="dcterms:W3CDTF">2026-09-18T19:44:00Z</dcterms:created>
  <dcterms:modified xsi:type="dcterms:W3CDTF">2026-09-18T19:49:42Z</dcterms:modified>
</cp:coreProperties>
</file>